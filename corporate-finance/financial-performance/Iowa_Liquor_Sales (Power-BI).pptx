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webextensions/webextension1.xml" ContentType="application/vnd.ms-office.webextension+xml"/>
  <Override PartName="/ppt/webextensions/webextension2.xml" ContentType="application/vnd.ms-office.webextension+xml"/>
  <Override PartName="/ppt/notesSlides/notesSlide6.xml" ContentType="application/vnd.openxmlformats-officedocument.presentationml.notesSlide+xml"/>
  <Override PartName="/ppt/webextensions/webextension3.xml" ContentType="application/vnd.ms-office.webextension+xml"/>
  <Override PartName="/ppt/notesSlides/notesSlide7.xml" ContentType="application/vnd.openxmlformats-officedocument.presentationml.notesSlide+xml"/>
  <Override PartName="/ppt/webextensions/webextension4.xml" ContentType="application/vnd.ms-office.webextension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410" r:id="rId5"/>
    <p:sldId id="383" r:id="rId6"/>
    <p:sldId id="409" r:id="rId7"/>
    <p:sldId id="389" r:id="rId8"/>
    <p:sldId id="411" r:id="rId9"/>
    <p:sldId id="413" r:id="rId10"/>
    <p:sldId id="412" r:id="rId11"/>
    <p:sldId id="391" r:id="rId12"/>
    <p:sldId id="408" r:id="rId13"/>
    <p:sldId id="414" r:id="rId14"/>
    <p:sldId id="3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6327" autoAdjust="0"/>
  </p:normalViewPr>
  <p:slideViewPr>
    <p:cSldViewPr snapToGrid="0">
      <p:cViewPr>
        <p:scale>
          <a:sx n="82" d="100"/>
          <a:sy n="82" d="100"/>
        </p:scale>
        <p:origin x="710" y="26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.iowa.gov/Sales-Distribution/Iowa-Liquor-Sales/m3tr-qhgy/about_data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.iowa.gov/Sales-Distribution/Iowa-Liquor-Sales/m3tr-qhgy/about_data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5FE106-DFD3-47EA-A161-A498D895015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2AD116A-D1C3-4841-A4EE-0C6C1C364B62}">
      <dgm:prSet/>
      <dgm:spPr/>
      <dgm:t>
        <a:bodyPr/>
        <a:lstStyle/>
        <a:p>
          <a:r>
            <a:rPr lang="en-US" dirty="0"/>
            <a:t>Introduction &amp; Objectives</a:t>
          </a:r>
        </a:p>
      </dgm:t>
    </dgm:pt>
    <dgm:pt modelId="{C6CE4D19-AC74-4FB2-B551-F79C415D4C28}" type="parTrans" cxnId="{2133B443-0634-4C70-AA30-934DD694C34A}">
      <dgm:prSet/>
      <dgm:spPr/>
      <dgm:t>
        <a:bodyPr/>
        <a:lstStyle/>
        <a:p>
          <a:endParaRPr lang="en-US"/>
        </a:p>
      </dgm:t>
    </dgm:pt>
    <dgm:pt modelId="{9221AC7E-34E5-45CE-8D2B-B592101CDF52}" type="sibTrans" cxnId="{2133B443-0634-4C70-AA30-934DD694C34A}">
      <dgm:prSet/>
      <dgm:spPr/>
      <dgm:t>
        <a:bodyPr/>
        <a:lstStyle/>
        <a:p>
          <a:endParaRPr lang="en-US"/>
        </a:p>
      </dgm:t>
    </dgm:pt>
    <dgm:pt modelId="{CE291E72-6256-46C5-A8C9-2267064AE996}">
      <dgm:prSet/>
      <dgm:spPr/>
      <dgm:t>
        <a:bodyPr/>
        <a:lstStyle/>
        <a:p>
          <a:r>
            <a:rPr lang="en-US"/>
            <a:t>Data Overview</a:t>
          </a:r>
        </a:p>
      </dgm:t>
    </dgm:pt>
    <dgm:pt modelId="{28F83481-4A95-4FAB-9F54-DDE8E344445C}" type="parTrans" cxnId="{175CFE53-E500-4809-A651-C410885FA4C5}">
      <dgm:prSet/>
      <dgm:spPr/>
      <dgm:t>
        <a:bodyPr/>
        <a:lstStyle/>
        <a:p>
          <a:endParaRPr lang="en-US"/>
        </a:p>
      </dgm:t>
    </dgm:pt>
    <dgm:pt modelId="{5FAFE0FA-B76F-45E3-B57B-FE681A904A58}" type="sibTrans" cxnId="{175CFE53-E500-4809-A651-C410885FA4C5}">
      <dgm:prSet/>
      <dgm:spPr/>
      <dgm:t>
        <a:bodyPr/>
        <a:lstStyle/>
        <a:p>
          <a:endParaRPr lang="en-US"/>
        </a:p>
      </dgm:t>
    </dgm:pt>
    <dgm:pt modelId="{23C2AC7C-7E08-43A6-AA34-1E2B3F4A9931}">
      <dgm:prSet/>
      <dgm:spPr/>
      <dgm:t>
        <a:bodyPr/>
        <a:lstStyle/>
        <a:p>
          <a:r>
            <a:rPr lang="en-US" dirty="0"/>
            <a:t>Revenue Performance</a:t>
          </a:r>
        </a:p>
      </dgm:t>
    </dgm:pt>
    <dgm:pt modelId="{38590D3D-2CAA-4614-92CF-58847FBFB276}" type="parTrans" cxnId="{9D1475AB-1034-4241-87C0-0CCFBEC8E0A2}">
      <dgm:prSet/>
      <dgm:spPr/>
      <dgm:t>
        <a:bodyPr/>
        <a:lstStyle/>
        <a:p>
          <a:endParaRPr lang="en-US"/>
        </a:p>
      </dgm:t>
    </dgm:pt>
    <dgm:pt modelId="{54F82C95-FB0A-4DCE-A56A-4D1FCC7CC496}" type="sibTrans" cxnId="{9D1475AB-1034-4241-87C0-0CCFBEC8E0A2}">
      <dgm:prSet/>
      <dgm:spPr/>
      <dgm:t>
        <a:bodyPr/>
        <a:lstStyle/>
        <a:p>
          <a:endParaRPr lang="en-US"/>
        </a:p>
      </dgm:t>
    </dgm:pt>
    <dgm:pt modelId="{47148681-09D3-4352-A6A1-31C9AA16F1FA}">
      <dgm:prSet/>
      <dgm:spPr>
        <a:solidFill>
          <a:schemeClr val="accent1"/>
        </a:solidFill>
      </dgm:spPr>
      <dgm:t>
        <a:bodyPr/>
        <a:lstStyle/>
        <a:p>
          <a:r>
            <a:rPr lang="en-US"/>
            <a:t>Geographic Concentration</a:t>
          </a:r>
        </a:p>
      </dgm:t>
    </dgm:pt>
    <dgm:pt modelId="{61FE37A0-2114-4DD1-A288-EE76C576BCAC}" type="parTrans" cxnId="{6053CDB8-C1A3-4C58-ADFE-96BFEF032045}">
      <dgm:prSet/>
      <dgm:spPr/>
      <dgm:t>
        <a:bodyPr/>
        <a:lstStyle/>
        <a:p>
          <a:endParaRPr lang="en-US"/>
        </a:p>
      </dgm:t>
    </dgm:pt>
    <dgm:pt modelId="{B036677A-E955-4973-97C5-216F3ECCFE7B}" type="sibTrans" cxnId="{6053CDB8-C1A3-4C58-ADFE-96BFEF032045}">
      <dgm:prSet/>
      <dgm:spPr/>
      <dgm:t>
        <a:bodyPr/>
        <a:lstStyle/>
        <a:p>
          <a:endParaRPr lang="en-US"/>
        </a:p>
      </dgm:t>
    </dgm:pt>
    <dgm:pt modelId="{4FF64A84-EB88-4AD7-B5D2-1FDED82D890A}">
      <dgm:prSet/>
      <dgm:spPr>
        <a:solidFill>
          <a:schemeClr val="accent1"/>
        </a:solidFill>
      </dgm:spPr>
      <dgm:t>
        <a:bodyPr/>
        <a:lstStyle/>
        <a:p>
          <a:r>
            <a:rPr lang="en-US"/>
            <a:t>Product &amp; Category Insights</a:t>
          </a:r>
        </a:p>
      </dgm:t>
    </dgm:pt>
    <dgm:pt modelId="{328B5269-9816-45C1-909B-8BCF6B1FF968}" type="parTrans" cxnId="{40A89A8F-8794-4957-8570-C309D9CA86D3}">
      <dgm:prSet/>
      <dgm:spPr/>
      <dgm:t>
        <a:bodyPr/>
        <a:lstStyle/>
        <a:p>
          <a:endParaRPr lang="en-US"/>
        </a:p>
      </dgm:t>
    </dgm:pt>
    <dgm:pt modelId="{031C3FA0-22B1-4AE6-8E33-8A75E1C525E7}" type="sibTrans" cxnId="{40A89A8F-8794-4957-8570-C309D9CA86D3}">
      <dgm:prSet/>
      <dgm:spPr/>
      <dgm:t>
        <a:bodyPr/>
        <a:lstStyle/>
        <a:p>
          <a:endParaRPr lang="en-US"/>
        </a:p>
      </dgm:t>
    </dgm:pt>
    <dgm:pt modelId="{6BB519A5-025A-4740-8DB1-2A810AFB6B37}">
      <dgm:prSet/>
      <dgm:spPr/>
      <dgm:t>
        <a:bodyPr/>
        <a:lstStyle/>
        <a:p>
          <a:r>
            <a:rPr lang="en-US"/>
            <a:t>Key Takeaways</a:t>
          </a:r>
        </a:p>
      </dgm:t>
    </dgm:pt>
    <dgm:pt modelId="{B6EAC43C-7767-407F-8362-A76F4ACB783B}" type="parTrans" cxnId="{32DD979A-1BF9-4637-BA59-77205AC967ED}">
      <dgm:prSet/>
      <dgm:spPr/>
      <dgm:t>
        <a:bodyPr/>
        <a:lstStyle/>
        <a:p>
          <a:endParaRPr lang="en-US"/>
        </a:p>
      </dgm:t>
    </dgm:pt>
    <dgm:pt modelId="{B8B707B6-C9A0-4E34-9877-1A50B2925AAD}" type="sibTrans" cxnId="{32DD979A-1BF9-4637-BA59-77205AC967ED}">
      <dgm:prSet/>
      <dgm:spPr/>
      <dgm:t>
        <a:bodyPr/>
        <a:lstStyle/>
        <a:p>
          <a:endParaRPr lang="en-US"/>
        </a:p>
      </dgm:t>
    </dgm:pt>
    <dgm:pt modelId="{5991F2E9-8729-4F5A-B46F-976271467CE7}" type="pres">
      <dgm:prSet presAssocID="{C05FE106-DFD3-47EA-A161-A498D8950154}" presName="root" presStyleCnt="0">
        <dgm:presLayoutVars>
          <dgm:dir/>
          <dgm:resizeHandles val="exact"/>
        </dgm:presLayoutVars>
      </dgm:prSet>
      <dgm:spPr/>
    </dgm:pt>
    <dgm:pt modelId="{E3298AE9-3629-4CA0-B2BC-63E8EC4EB823}" type="pres">
      <dgm:prSet presAssocID="{92AD116A-D1C3-4841-A4EE-0C6C1C364B62}" presName="compNode" presStyleCnt="0"/>
      <dgm:spPr/>
    </dgm:pt>
    <dgm:pt modelId="{D8C34A0C-2AE6-46FA-87B3-B0F0FACFD5C5}" type="pres">
      <dgm:prSet presAssocID="{92AD116A-D1C3-4841-A4EE-0C6C1C364B62}" presName="bgRect" presStyleLbl="bgShp" presStyleIdx="0" presStyleCnt="6"/>
      <dgm:spPr>
        <a:solidFill>
          <a:schemeClr val="accent1"/>
        </a:solidFill>
      </dgm:spPr>
    </dgm:pt>
    <dgm:pt modelId="{62492B9B-23FB-4DB8-A0D7-A70B52524345}" type="pres">
      <dgm:prSet presAssocID="{92AD116A-D1C3-4841-A4EE-0C6C1C364B6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ADF3E54-DD4D-43FD-9872-C4A28FF4EB77}" type="pres">
      <dgm:prSet presAssocID="{92AD116A-D1C3-4841-A4EE-0C6C1C364B62}" presName="spaceRect" presStyleCnt="0"/>
      <dgm:spPr/>
    </dgm:pt>
    <dgm:pt modelId="{6B8C8957-0B79-40F8-8939-94D1271DA7C5}" type="pres">
      <dgm:prSet presAssocID="{92AD116A-D1C3-4841-A4EE-0C6C1C364B62}" presName="parTx" presStyleLbl="revTx" presStyleIdx="0" presStyleCnt="6">
        <dgm:presLayoutVars>
          <dgm:chMax val="0"/>
          <dgm:chPref val="0"/>
        </dgm:presLayoutVars>
      </dgm:prSet>
      <dgm:spPr/>
    </dgm:pt>
    <dgm:pt modelId="{A2D19EEA-F7F5-4A98-8F95-12290825230B}" type="pres">
      <dgm:prSet presAssocID="{9221AC7E-34E5-45CE-8D2B-B592101CDF52}" presName="sibTrans" presStyleCnt="0"/>
      <dgm:spPr/>
    </dgm:pt>
    <dgm:pt modelId="{63DDED84-24BE-4D62-8640-1FA54E36E238}" type="pres">
      <dgm:prSet presAssocID="{CE291E72-6256-46C5-A8C9-2267064AE996}" presName="compNode" presStyleCnt="0"/>
      <dgm:spPr/>
    </dgm:pt>
    <dgm:pt modelId="{83112F60-73F6-4561-A308-A29BF8E35B35}" type="pres">
      <dgm:prSet presAssocID="{CE291E72-6256-46C5-A8C9-2267064AE996}" presName="bgRect" presStyleLbl="bgShp" presStyleIdx="1" presStyleCnt="6"/>
      <dgm:spPr>
        <a:solidFill>
          <a:schemeClr val="accent1"/>
        </a:solidFill>
      </dgm:spPr>
    </dgm:pt>
    <dgm:pt modelId="{44ACBEC1-0078-4376-8570-376506FCBE5D}" type="pres">
      <dgm:prSet presAssocID="{CE291E72-6256-46C5-A8C9-2267064AE99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117EB2D-B4ED-433F-86E0-626B63EB7D5B}" type="pres">
      <dgm:prSet presAssocID="{CE291E72-6256-46C5-A8C9-2267064AE996}" presName="spaceRect" presStyleCnt="0"/>
      <dgm:spPr/>
    </dgm:pt>
    <dgm:pt modelId="{15EC8416-494F-45D4-960B-2A01D5A59ACF}" type="pres">
      <dgm:prSet presAssocID="{CE291E72-6256-46C5-A8C9-2267064AE996}" presName="parTx" presStyleLbl="revTx" presStyleIdx="1" presStyleCnt="6">
        <dgm:presLayoutVars>
          <dgm:chMax val="0"/>
          <dgm:chPref val="0"/>
        </dgm:presLayoutVars>
      </dgm:prSet>
      <dgm:spPr/>
    </dgm:pt>
    <dgm:pt modelId="{B1460A54-5D0A-4899-B6C5-9B4F0AEF6E1F}" type="pres">
      <dgm:prSet presAssocID="{5FAFE0FA-B76F-45E3-B57B-FE681A904A58}" presName="sibTrans" presStyleCnt="0"/>
      <dgm:spPr/>
    </dgm:pt>
    <dgm:pt modelId="{7DD0913B-C1AE-4033-8C9E-902A5557E025}" type="pres">
      <dgm:prSet presAssocID="{23C2AC7C-7E08-43A6-AA34-1E2B3F4A9931}" presName="compNode" presStyleCnt="0"/>
      <dgm:spPr/>
    </dgm:pt>
    <dgm:pt modelId="{4A4FD3CA-23C0-44A1-833E-2E2A9F0D75B8}" type="pres">
      <dgm:prSet presAssocID="{23C2AC7C-7E08-43A6-AA34-1E2B3F4A9931}" presName="bgRect" presStyleLbl="bgShp" presStyleIdx="2" presStyleCnt="6"/>
      <dgm:spPr>
        <a:solidFill>
          <a:schemeClr val="accent1"/>
        </a:solidFill>
      </dgm:spPr>
    </dgm:pt>
    <dgm:pt modelId="{12E25083-2883-4525-9C4D-BBDB1369F164}" type="pres">
      <dgm:prSet presAssocID="{23C2AC7C-7E08-43A6-AA34-1E2B3F4A993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3039BEC-597B-4D6C-81E3-D73173A91CF6}" type="pres">
      <dgm:prSet presAssocID="{23C2AC7C-7E08-43A6-AA34-1E2B3F4A9931}" presName="spaceRect" presStyleCnt="0"/>
      <dgm:spPr/>
    </dgm:pt>
    <dgm:pt modelId="{A3344872-8285-4D10-BE17-3E52F4CDFF1A}" type="pres">
      <dgm:prSet presAssocID="{23C2AC7C-7E08-43A6-AA34-1E2B3F4A9931}" presName="parTx" presStyleLbl="revTx" presStyleIdx="2" presStyleCnt="6">
        <dgm:presLayoutVars>
          <dgm:chMax val="0"/>
          <dgm:chPref val="0"/>
        </dgm:presLayoutVars>
      </dgm:prSet>
      <dgm:spPr/>
    </dgm:pt>
    <dgm:pt modelId="{DDFCF703-4127-4985-AB74-C26A6069E2B3}" type="pres">
      <dgm:prSet presAssocID="{54F82C95-FB0A-4DCE-A56A-4D1FCC7CC496}" presName="sibTrans" presStyleCnt="0"/>
      <dgm:spPr/>
    </dgm:pt>
    <dgm:pt modelId="{CB7C32B7-6F21-4908-9CC0-29CB0846454A}" type="pres">
      <dgm:prSet presAssocID="{47148681-09D3-4352-A6A1-31C9AA16F1FA}" presName="compNode" presStyleCnt="0"/>
      <dgm:spPr/>
    </dgm:pt>
    <dgm:pt modelId="{28F139C9-01D4-473C-B1F8-A30C2E027C8C}" type="pres">
      <dgm:prSet presAssocID="{47148681-09D3-4352-A6A1-31C9AA16F1FA}" presName="bgRect" presStyleLbl="bgShp" presStyleIdx="3" presStyleCnt="6"/>
      <dgm:spPr>
        <a:solidFill>
          <a:schemeClr val="accent1"/>
        </a:solidFill>
      </dgm:spPr>
    </dgm:pt>
    <dgm:pt modelId="{C791CA30-996F-483E-A626-66717DB80881}" type="pres">
      <dgm:prSet presAssocID="{47148681-09D3-4352-A6A1-31C9AA16F1F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F7E637F5-D165-4F21-8C2E-52538962D52F}" type="pres">
      <dgm:prSet presAssocID="{47148681-09D3-4352-A6A1-31C9AA16F1FA}" presName="spaceRect" presStyleCnt="0"/>
      <dgm:spPr/>
    </dgm:pt>
    <dgm:pt modelId="{41388839-26E7-4951-BAA9-6BA76F55E909}" type="pres">
      <dgm:prSet presAssocID="{47148681-09D3-4352-A6A1-31C9AA16F1FA}" presName="parTx" presStyleLbl="revTx" presStyleIdx="3" presStyleCnt="6">
        <dgm:presLayoutVars>
          <dgm:chMax val="0"/>
          <dgm:chPref val="0"/>
        </dgm:presLayoutVars>
      </dgm:prSet>
      <dgm:spPr/>
    </dgm:pt>
    <dgm:pt modelId="{FB716D33-E650-4DEF-B60E-21325C318B66}" type="pres">
      <dgm:prSet presAssocID="{B036677A-E955-4973-97C5-216F3ECCFE7B}" presName="sibTrans" presStyleCnt="0"/>
      <dgm:spPr/>
    </dgm:pt>
    <dgm:pt modelId="{ADC80E50-48C7-4021-898E-F5EBC5537443}" type="pres">
      <dgm:prSet presAssocID="{4FF64A84-EB88-4AD7-B5D2-1FDED82D890A}" presName="compNode" presStyleCnt="0"/>
      <dgm:spPr/>
    </dgm:pt>
    <dgm:pt modelId="{8A197D15-28E8-4A3C-BF48-CFCB372BD986}" type="pres">
      <dgm:prSet presAssocID="{4FF64A84-EB88-4AD7-B5D2-1FDED82D890A}" presName="bgRect" presStyleLbl="bgShp" presStyleIdx="4" presStyleCnt="6"/>
      <dgm:spPr>
        <a:solidFill>
          <a:schemeClr val="accent1"/>
        </a:solidFill>
      </dgm:spPr>
    </dgm:pt>
    <dgm:pt modelId="{6AA8963D-F10B-49B0-BFF7-F886FC816455}" type="pres">
      <dgm:prSet presAssocID="{4FF64A84-EB88-4AD7-B5D2-1FDED82D890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34A53963-66E8-4A25-8B6F-ADA45D7C4E7B}" type="pres">
      <dgm:prSet presAssocID="{4FF64A84-EB88-4AD7-B5D2-1FDED82D890A}" presName="spaceRect" presStyleCnt="0"/>
      <dgm:spPr/>
    </dgm:pt>
    <dgm:pt modelId="{1BDAF99B-7B01-4C71-9EB9-75E946CF6D59}" type="pres">
      <dgm:prSet presAssocID="{4FF64A84-EB88-4AD7-B5D2-1FDED82D890A}" presName="parTx" presStyleLbl="revTx" presStyleIdx="4" presStyleCnt="6">
        <dgm:presLayoutVars>
          <dgm:chMax val="0"/>
          <dgm:chPref val="0"/>
        </dgm:presLayoutVars>
      </dgm:prSet>
      <dgm:spPr/>
    </dgm:pt>
    <dgm:pt modelId="{91C21CC9-C6B9-4465-A71B-36F66292C933}" type="pres">
      <dgm:prSet presAssocID="{031C3FA0-22B1-4AE6-8E33-8A75E1C525E7}" presName="sibTrans" presStyleCnt="0"/>
      <dgm:spPr/>
    </dgm:pt>
    <dgm:pt modelId="{F91FB7FB-89D9-4428-BAC6-CAE4ACD828FB}" type="pres">
      <dgm:prSet presAssocID="{6BB519A5-025A-4740-8DB1-2A810AFB6B37}" presName="compNode" presStyleCnt="0"/>
      <dgm:spPr/>
    </dgm:pt>
    <dgm:pt modelId="{9D19556A-45BC-4F9B-A298-35DC1A1B71A8}" type="pres">
      <dgm:prSet presAssocID="{6BB519A5-025A-4740-8DB1-2A810AFB6B37}" presName="bgRect" presStyleLbl="bgShp" presStyleIdx="5" presStyleCnt="6"/>
      <dgm:spPr>
        <a:solidFill>
          <a:schemeClr val="accent1"/>
        </a:solidFill>
      </dgm:spPr>
    </dgm:pt>
    <dgm:pt modelId="{A7A8C1B2-1B38-4CDD-86AE-76B750A715D1}" type="pres">
      <dgm:prSet presAssocID="{6BB519A5-025A-4740-8DB1-2A810AFB6B3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709470F-3BAE-4C7E-905F-77C1D6722C1D}" type="pres">
      <dgm:prSet presAssocID="{6BB519A5-025A-4740-8DB1-2A810AFB6B37}" presName="spaceRect" presStyleCnt="0"/>
      <dgm:spPr/>
    </dgm:pt>
    <dgm:pt modelId="{2BABD3FF-87ED-4CC8-ACE2-01BD4729983A}" type="pres">
      <dgm:prSet presAssocID="{6BB519A5-025A-4740-8DB1-2A810AFB6B3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2A9A011-3948-4436-AF95-D1B30F46AAAB}" type="presOf" srcId="{47148681-09D3-4352-A6A1-31C9AA16F1FA}" destId="{41388839-26E7-4951-BAA9-6BA76F55E909}" srcOrd="0" destOrd="0" presId="urn:microsoft.com/office/officeart/2018/2/layout/IconVerticalSolidList"/>
    <dgm:cxn modelId="{F140AA21-50BD-4DE3-98C8-27A12093F365}" type="presOf" srcId="{6BB519A5-025A-4740-8DB1-2A810AFB6B37}" destId="{2BABD3FF-87ED-4CC8-ACE2-01BD4729983A}" srcOrd="0" destOrd="0" presId="urn:microsoft.com/office/officeart/2018/2/layout/IconVerticalSolidList"/>
    <dgm:cxn modelId="{2133B443-0634-4C70-AA30-934DD694C34A}" srcId="{C05FE106-DFD3-47EA-A161-A498D8950154}" destId="{92AD116A-D1C3-4841-A4EE-0C6C1C364B62}" srcOrd="0" destOrd="0" parTransId="{C6CE4D19-AC74-4FB2-B551-F79C415D4C28}" sibTransId="{9221AC7E-34E5-45CE-8D2B-B592101CDF52}"/>
    <dgm:cxn modelId="{6CE23C4D-F386-4776-B981-6E7733EB8F34}" type="presOf" srcId="{92AD116A-D1C3-4841-A4EE-0C6C1C364B62}" destId="{6B8C8957-0B79-40F8-8939-94D1271DA7C5}" srcOrd="0" destOrd="0" presId="urn:microsoft.com/office/officeart/2018/2/layout/IconVerticalSolidList"/>
    <dgm:cxn modelId="{175CFE53-E500-4809-A651-C410885FA4C5}" srcId="{C05FE106-DFD3-47EA-A161-A498D8950154}" destId="{CE291E72-6256-46C5-A8C9-2267064AE996}" srcOrd="1" destOrd="0" parTransId="{28F83481-4A95-4FAB-9F54-DDE8E344445C}" sibTransId="{5FAFE0FA-B76F-45E3-B57B-FE681A904A58}"/>
    <dgm:cxn modelId="{41275856-D043-466A-801F-61E334A60676}" type="presOf" srcId="{23C2AC7C-7E08-43A6-AA34-1E2B3F4A9931}" destId="{A3344872-8285-4D10-BE17-3E52F4CDFF1A}" srcOrd="0" destOrd="0" presId="urn:microsoft.com/office/officeart/2018/2/layout/IconVerticalSolidList"/>
    <dgm:cxn modelId="{C995418A-1D38-47F3-B712-71DA97A6127A}" type="presOf" srcId="{C05FE106-DFD3-47EA-A161-A498D8950154}" destId="{5991F2E9-8729-4F5A-B46F-976271467CE7}" srcOrd="0" destOrd="0" presId="urn:microsoft.com/office/officeart/2018/2/layout/IconVerticalSolidList"/>
    <dgm:cxn modelId="{40A89A8F-8794-4957-8570-C309D9CA86D3}" srcId="{C05FE106-DFD3-47EA-A161-A498D8950154}" destId="{4FF64A84-EB88-4AD7-B5D2-1FDED82D890A}" srcOrd="4" destOrd="0" parTransId="{328B5269-9816-45C1-909B-8BCF6B1FF968}" sibTransId="{031C3FA0-22B1-4AE6-8E33-8A75E1C525E7}"/>
    <dgm:cxn modelId="{32DD979A-1BF9-4637-BA59-77205AC967ED}" srcId="{C05FE106-DFD3-47EA-A161-A498D8950154}" destId="{6BB519A5-025A-4740-8DB1-2A810AFB6B37}" srcOrd="5" destOrd="0" parTransId="{B6EAC43C-7767-407F-8362-A76F4ACB783B}" sibTransId="{B8B707B6-C9A0-4E34-9877-1A50B2925AAD}"/>
    <dgm:cxn modelId="{C7C1A0A4-29CD-45EA-A27A-2A449FD1DF50}" type="presOf" srcId="{CE291E72-6256-46C5-A8C9-2267064AE996}" destId="{15EC8416-494F-45D4-960B-2A01D5A59ACF}" srcOrd="0" destOrd="0" presId="urn:microsoft.com/office/officeart/2018/2/layout/IconVerticalSolidList"/>
    <dgm:cxn modelId="{9D1475AB-1034-4241-87C0-0CCFBEC8E0A2}" srcId="{C05FE106-DFD3-47EA-A161-A498D8950154}" destId="{23C2AC7C-7E08-43A6-AA34-1E2B3F4A9931}" srcOrd="2" destOrd="0" parTransId="{38590D3D-2CAA-4614-92CF-58847FBFB276}" sibTransId="{54F82C95-FB0A-4DCE-A56A-4D1FCC7CC496}"/>
    <dgm:cxn modelId="{815367B3-8060-4042-B016-9C470CBBBEBB}" type="presOf" srcId="{4FF64A84-EB88-4AD7-B5D2-1FDED82D890A}" destId="{1BDAF99B-7B01-4C71-9EB9-75E946CF6D59}" srcOrd="0" destOrd="0" presId="urn:microsoft.com/office/officeart/2018/2/layout/IconVerticalSolidList"/>
    <dgm:cxn modelId="{6053CDB8-C1A3-4C58-ADFE-96BFEF032045}" srcId="{C05FE106-DFD3-47EA-A161-A498D8950154}" destId="{47148681-09D3-4352-A6A1-31C9AA16F1FA}" srcOrd="3" destOrd="0" parTransId="{61FE37A0-2114-4DD1-A288-EE76C576BCAC}" sibTransId="{B036677A-E955-4973-97C5-216F3ECCFE7B}"/>
    <dgm:cxn modelId="{46289845-953E-4033-B2F3-1BDA73FE37E1}" type="presParOf" srcId="{5991F2E9-8729-4F5A-B46F-976271467CE7}" destId="{E3298AE9-3629-4CA0-B2BC-63E8EC4EB823}" srcOrd="0" destOrd="0" presId="urn:microsoft.com/office/officeart/2018/2/layout/IconVerticalSolidList"/>
    <dgm:cxn modelId="{3C18B01F-F4AC-46AF-9BA2-0034B8A08BEF}" type="presParOf" srcId="{E3298AE9-3629-4CA0-B2BC-63E8EC4EB823}" destId="{D8C34A0C-2AE6-46FA-87B3-B0F0FACFD5C5}" srcOrd="0" destOrd="0" presId="urn:microsoft.com/office/officeart/2018/2/layout/IconVerticalSolidList"/>
    <dgm:cxn modelId="{5315ECE4-4770-463B-BD1D-4E3DA2A95AE9}" type="presParOf" srcId="{E3298AE9-3629-4CA0-B2BC-63E8EC4EB823}" destId="{62492B9B-23FB-4DB8-A0D7-A70B52524345}" srcOrd="1" destOrd="0" presId="urn:microsoft.com/office/officeart/2018/2/layout/IconVerticalSolidList"/>
    <dgm:cxn modelId="{0AD2A855-7840-4ABF-812E-E69B09092299}" type="presParOf" srcId="{E3298AE9-3629-4CA0-B2BC-63E8EC4EB823}" destId="{7ADF3E54-DD4D-43FD-9872-C4A28FF4EB77}" srcOrd="2" destOrd="0" presId="urn:microsoft.com/office/officeart/2018/2/layout/IconVerticalSolidList"/>
    <dgm:cxn modelId="{609B9DE6-4544-402A-A329-1DB36AC949E2}" type="presParOf" srcId="{E3298AE9-3629-4CA0-B2BC-63E8EC4EB823}" destId="{6B8C8957-0B79-40F8-8939-94D1271DA7C5}" srcOrd="3" destOrd="0" presId="urn:microsoft.com/office/officeart/2018/2/layout/IconVerticalSolidList"/>
    <dgm:cxn modelId="{CF48AA63-D258-45EE-9D26-2CA3E4D3B396}" type="presParOf" srcId="{5991F2E9-8729-4F5A-B46F-976271467CE7}" destId="{A2D19EEA-F7F5-4A98-8F95-12290825230B}" srcOrd="1" destOrd="0" presId="urn:microsoft.com/office/officeart/2018/2/layout/IconVerticalSolidList"/>
    <dgm:cxn modelId="{2AD7B54D-60C9-4651-82C8-183CDFA174CF}" type="presParOf" srcId="{5991F2E9-8729-4F5A-B46F-976271467CE7}" destId="{63DDED84-24BE-4D62-8640-1FA54E36E238}" srcOrd="2" destOrd="0" presId="urn:microsoft.com/office/officeart/2018/2/layout/IconVerticalSolidList"/>
    <dgm:cxn modelId="{3BAAE219-4F9D-48A1-8323-45778A324934}" type="presParOf" srcId="{63DDED84-24BE-4D62-8640-1FA54E36E238}" destId="{83112F60-73F6-4561-A308-A29BF8E35B35}" srcOrd="0" destOrd="0" presId="urn:microsoft.com/office/officeart/2018/2/layout/IconVerticalSolidList"/>
    <dgm:cxn modelId="{694C80EB-EA6E-4C31-8778-EB943322CFEF}" type="presParOf" srcId="{63DDED84-24BE-4D62-8640-1FA54E36E238}" destId="{44ACBEC1-0078-4376-8570-376506FCBE5D}" srcOrd="1" destOrd="0" presId="urn:microsoft.com/office/officeart/2018/2/layout/IconVerticalSolidList"/>
    <dgm:cxn modelId="{74BAA8FF-DF1E-4767-918B-7F81A4163C91}" type="presParOf" srcId="{63DDED84-24BE-4D62-8640-1FA54E36E238}" destId="{1117EB2D-B4ED-433F-86E0-626B63EB7D5B}" srcOrd="2" destOrd="0" presId="urn:microsoft.com/office/officeart/2018/2/layout/IconVerticalSolidList"/>
    <dgm:cxn modelId="{B708B7DA-4FD0-46BE-82DD-0F369449A6ED}" type="presParOf" srcId="{63DDED84-24BE-4D62-8640-1FA54E36E238}" destId="{15EC8416-494F-45D4-960B-2A01D5A59ACF}" srcOrd="3" destOrd="0" presId="urn:microsoft.com/office/officeart/2018/2/layout/IconVerticalSolidList"/>
    <dgm:cxn modelId="{3C8407A1-035F-4E6E-B1D4-4F0C58636B68}" type="presParOf" srcId="{5991F2E9-8729-4F5A-B46F-976271467CE7}" destId="{B1460A54-5D0A-4899-B6C5-9B4F0AEF6E1F}" srcOrd="3" destOrd="0" presId="urn:microsoft.com/office/officeart/2018/2/layout/IconVerticalSolidList"/>
    <dgm:cxn modelId="{5C4E2974-42FD-4DE3-8CCD-9FB36E476FCE}" type="presParOf" srcId="{5991F2E9-8729-4F5A-B46F-976271467CE7}" destId="{7DD0913B-C1AE-4033-8C9E-902A5557E025}" srcOrd="4" destOrd="0" presId="urn:microsoft.com/office/officeart/2018/2/layout/IconVerticalSolidList"/>
    <dgm:cxn modelId="{03B9F871-AC97-4D80-A1B7-682B668A093A}" type="presParOf" srcId="{7DD0913B-C1AE-4033-8C9E-902A5557E025}" destId="{4A4FD3CA-23C0-44A1-833E-2E2A9F0D75B8}" srcOrd="0" destOrd="0" presId="urn:microsoft.com/office/officeart/2018/2/layout/IconVerticalSolidList"/>
    <dgm:cxn modelId="{B90C91F3-DC65-42DC-A604-4BBDA0B42942}" type="presParOf" srcId="{7DD0913B-C1AE-4033-8C9E-902A5557E025}" destId="{12E25083-2883-4525-9C4D-BBDB1369F164}" srcOrd="1" destOrd="0" presId="urn:microsoft.com/office/officeart/2018/2/layout/IconVerticalSolidList"/>
    <dgm:cxn modelId="{A77609D4-D926-43C2-A6DB-4F1C97411C49}" type="presParOf" srcId="{7DD0913B-C1AE-4033-8C9E-902A5557E025}" destId="{73039BEC-597B-4D6C-81E3-D73173A91CF6}" srcOrd="2" destOrd="0" presId="urn:microsoft.com/office/officeart/2018/2/layout/IconVerticalSolidList"/>
    <dgm:cxn modelId="{12DA2AD8-C63E-49B4-8FE5-D4DB0F7AB0D4}" type="presParOf" srcId="{7DD0913B-C1AE-4033-8C9E-902A5557E025}" destId="{A3344872-8285-4D10-BE17-3E52F4CDFF1A}" srcOrd="3" destOrd="0" presId="urn:microsoft.com/office/officeart/2018/2/layout/IconVerticalSolidList"/>
    <dgm:cxn modelId="{13270D65-5F79-44DE-8B8C-6AFAC2059AE0}" type="presParOf" srcId="{5991F2E9-8729-4F5A-B46F-976271467CE7}" destId="{DDFCF703-4127-4985-AB74-C26A6069E2B3}" srcOrd="5" destOrd="0" presId="urn:microsoft.com/office/officeart/2018/2/layout/IconVerticalSolidList"/>
    <dgm:cxn modelId="{4AED9BAA-FD57-4E79-BDFC-554ED7622B7B}" type="presParOf" srcId="{5991F2E9-8729-4F5A-B46F-976271467CE7}" destId="{CB7C32B7-6F21-4908-9CC0-29CB0846454A}" srcOrd="6" destOrd="0" presId="urn:microsoft.com/office/officeart/2018/2/layout/IconVerticalSolidList"/>
    <dgm:cxn modelId="{7BBDC854-3E89-4041-93AD-D868E33CD9E0}" type="presParOf" srcId="{CB7C32B7-6F21-4908-9CC0-29CB0846454A}" destId="{28F139C9-01D4-473C-B1F8-A30C2E027C8C}" srcOrd="0" destOrd="0" presId="urn:microsoft.com/office/officeart/2018/2/layout/IconVerticalSolidList"/>
    <dgm:cxn modelId="{298521A8-5FEB-4934-9001-3E8D0B2EE926}" type="presParOf" srcId="{CB7C32B7-6F21-4908-9CC0-29CB0846454A}" destId="{C791CA30-996F-483E-A626-66717DB80881}" srcOrd="1" destOrd="0" presId="urn:microsoft.com/office/officeart/2018/2/layout/IconVerticalSolidList"/>
    <dgm:cxn modelId="{8BD5EF2F-BDBE-4E74-AB3F-D5CCD2212D1B}" type="presParOf" srcId="{CB7C32B7-6F21-4908-9CC0-29CB0846454A}" destId="{F7E637F5-D165-4F21-8C2E-52538962D52F}" srcOrd="2" destOrd="0" presId="urn:microsoft.com/office/officeart/2018/2/layout/IconVerticalSolidList"/>
    <dgm:cxn modelId="{DF98F089-E563-484D-987B-C903F32FF589}" type="presParOf" srcId="{CB7C32B7-6F21-4908-9CC0-29CB0846454A}" destId="{41388839-26E7-4951-BAA9-6BA76F55E909}" srcOrd="3" destOrd="0" presId="urn:microsoft.com/office/officeart/2018/2/layout/IconVerticalSolidList"/>
    <dgm:cxn modelId="{1B9D4FC1-4681-4EF2-810C-A25C1D5701B5}" type="presParOf" srcId="{5991F2E9-8729-4F5A-B46F-976271467CE7}" destId="{FB716D33-E650-4DEF-B60E-21325C318B66}" srcOrd="7" destOrd="0" presId="urn:microsoft.com/office/officeart/2018/2/layout/IconVerticalSolidList"/>
    <dgm:cxn modelId="{4A4B77A1-8F0D-4D57-B836-C70BDCE8642D}" type="presParOf" srcId="{5991F2E9-8729-4F5A-B46F-976271467CE7}" destId="{ADC80E50-48C7-4021-898E-F5EBC5537443}" srcOrd="8" destOrd="0" presId="urn:microsoft.com/office/officeart/2018/2/layout/IconVerticalSolidList"/>
    <dgm:cxn modelId="{B93FBB6D-3B10-4E9D-93D2-63058685F88C}" type="presParOf" srcId="{ADC80E50-48C7-4021-898E-F5EBC5537443}" destId="{8A197D15-28E8-4A3C-BF48-CFCB372BD986}" srcOrd="0" destOrd="0" presId="urn:microsoft.com/office/officeart/2018/2/layout/IconVerticalSolidList"/>
    <dgm:cxn modelId="{820A463F-BAE4-4B98-89F3-B560D222373C}" type="presParOf" srcId="{ADC80E50-48C7-4021-898E-F5EBC5537443}" destId="{6AA8963D-F10B-49B0-BFF7-F886FC816455}" srcOrd="1" destOrd="0" presId="urn:microsoft.com/office/officeart/2018/2/layout/IconVerticalSolidList"/>
    <dgm:cxn modelId="{52E78055-4CD0-4E01-B080-5B6C5BE7D1F4}" type="presParOf" srcId="{ADC80E50-48C7-4021-898E-F5EBC5537443}" destId="{34A53963-66E8-4A25-8B6F-ADA45D7C4E7B}" srcOrd="2" destOrd="0" presId="urn:microsoft.com/office/officeart/2018/2/layout/IconVerticalSolidList"/>
    <dgm:cxn modelId="{63896C31-182C-4CED-8AC0-E7F020CC261A}" type="presParOf" srcId="{ADC80E50-48C7-4021-898E-F5EBC5537443}" destId="{1BDAF99B-7B01-4C71-9EB9-75E946CF6D59}" srcOrd="3" destOrd="0" presId="urn:microsoft.com/office/officeart/2018/2/layout/IconVerticalSolidList"/>
    <dgm:cxn modelId="{E56C945E-31E9-4518-A810-11E6ADD437D2}" type="presParOf" srcId="{5991F2E9-8729-4F5A-B46F-976271467CE7}" destId="{91C21CC9-C6B9-4465-A71B-36F66292C933}" srcOrd="9" destOrd="0" presId="urn:microsoft.com/office/officeart/2018/2/layout/IconVerticalSolidList"/>
    <dgm:cxn modelId="{29D83B0A-A821-47BC-81D3-A304F9784305}" type="presParOf" srcId="{5991F2E9-8729-4F5A-B46F-976271467CE7}" destId="{F91FB7FB-89D9-4428-BAC6-CAE4ACD828FB}" srcOrd="10" destOrd="0" presId="urn:microsoft.com/office/officeart/2018/2/layout/IconVerticalSolidList"/>
    <dgm:cxn modelId="{AFA6973C-4DB7-4A1F-9383-BDFD595408AC}" type="presParOf" srcId="{F91FB7FB-89D9-4428-BAC6-CAE4ACD828FB}" destId="{9D19556A-45BC-4F9B-A298-35DC1A1B71A8}" srcOrd="0" destOrd="0" presId="urn:microsoft.com/office/officeart/2018/2/layout/IconVerticalSolidList"/>
    <dgm:cxn modelId="{3C14A71E-7657-4F60-A9C0-08937F9EA7C0}" type="presParOf" srcId="{F91FB7FB-89D9-4428-BAC6-CAE4ACD828FB}" destId="{A7A8C1B2-1B38-4CDD-86AE-76B750A715D1}" srcOrd="1" destOrd="0" presId="urn:microsoft.com/office/officeart/2018/2/layout/IconVerticalSolidList"/>
    <dgm:cxn modelId="{7B536BD4-3A3A-49C4-A893-241491FC0638}" type="presParOf" srcId="{F91FB7FB-89D9-4428-BAC6-CAE4ACD828FB}" destId="{B709470F-3BAE-4C7E-905F-77C1D6722C1D}" srcOrd="2" destOrd="0" presId="urn:microsoft.com/office/officeart/2018/2/layout/IconVerticalSolidList"/>
    <dgm:cxn modelId="{848D6AFB-88F2-4233-8960-E40ACD02342C}" type="presParOf" srcId="{F91FB7FB-89D9-4428-BAC6-CAE4ACD828FB}" destId="{2BABD3FF-87ED-4CC8-ACE2-01BD472998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800E22-C68C-4858-91CE-36B7D6C2286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43A8CD-8CB4-43CB-B66A-948509463E4B}">
      <dgm:prSet/>
      <dgm:spPr/>
      <dgm:t>
        <a:bodyPr/>
        <a:lstStyle/>
        <a:p>
          <a:r>
            <a:rPr lang="en-US" b="1" i="0" kern="1200" baseline="0"/>
            <a:t>Source</a:t>
          </a:r>
          <a:r>
            <a:rPr lang="en-US" kern="1200">
              <a:latin typeface="Franklin Gothic Book"/>
              <a:ea typeface="+mn-ea"/>
              <a:cs typeface="+mn-cs"/>
            </a:rPr>
            <a:t>: Iowa Liquor Sales (</a:t>
          </a:r>
          <a:r>
            <a:rPr lang="en-US" kern="1200">
              <a:latin typeface="Franklin Gothic Book"/>
              <a:ea typeface="+mn-ea"/>
              <a:cs typeface="+mn-cs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Iowa Liquor Sales | data.iowa.gov</a:t>
          </a:r>
          <a:r>
            <a:rPr lang="en-US" kern="1200">
              <a:latin typeface="Franklin Gothic Book"/>
              <a:ea typeface="+mn-ea"/>
              <a:cs typeface="+mn-cs"/>
            </a:rPr>
            <a:t>)</a:t>
          </a:r>
        </a:p>
      </dgm:t>
    </dgm:pt>
    <dgm:pt modelId="{08473295-F8F7-40F2-BBDB-6D768F1BE0C7}" type="parTrans" cxnId="{CE523E60-23A6-4DBB-99E9-272B8C5B13A2}">
      <dgm:prSet/>
      <dgm:spPr/>
      <dgm:t>
        <a:bodyPr/>
        <a:lstStyle/>
        <a:p>
          <a:endParaRPr lang="en-US"/>
        </a:p>
      </dgm:t>
    </dgm:pt>
    <dgm:pt modelId="{3C82748E-2287-433D-95CC-8C4996A69FC0}" type="sibTrans" cxnId="{CE523E60-23A6-4DBB-99E9-272B8C5B13A2}">
      <dgm:prSet/>
      <dgm:spPr/>
      <dgm:t>
        <a:bodyPr/>
        <a:lstStyle/>
        <a:p>
          <a:endParaRPr lang="en-US"/>
        </a:p>
      </dgm:t>
    </dgm:pt>
    <dgm:pt modelId="{1EBEBAA3-D0AD-4EAA-A588-3D431BE8AEA8}">
      <dgm:prSet/>
      <dgm:spPr/>
      <dgm:t>
        <a:bodyPr/>
        <a:lstStyle/>
        <a:p>
          <a:r>
            <a:rPr lang="en-US" b="1" i="0" kern="1200" baseline="0"/>
            <a:t>Dataset Size:</a:t>
          </a:r>
          <a:r>
            <a:rPr lang="en-US" b="0" i="0" kern="1200" baseline="0"/>
            <a:t> </a:t>
          </a:r>
          <a:r>
            <a:rPr lang="en-US" kern="1200">
              <a:latin typeface="Franklin Gothic Book"/>
              <a:ea typeface="+mn-ea"/>
              <a:cs typeface="+mn-cs"/>
            </a:rPr>
            <a:t>33.3M transactions across 24 columns</a:t>
          </a:r>
        </a:p>
      </dgm:t>
    </dgm:pt>
    <dgm:pt modelId="{DE63F35D-C10C-4FC4-887E-3C9AE2E467EA}" type="parTrans" cxnId="{53262674-05FA-4450-A58A-EE77524A6C90}">
      <dgm:prSet/>
      <dgm:spPr/>
      <dgm:t>
        <a:bodyPr/>
        <a:lstStyle/>
        <a:p>
          <a:endParaRPr lang="en-US"/>
        </a:p>
      </dgm:t>
    </dgm:pt>
    <dgm:pt modelId="{4332CD81-D122-4B35-8284-DB075A7117D6}" type="sibTrans" cxnId="{53262674-05FA-4450-A58A-EE77524A6C90}">
      <dgm:prSet/>
      <dgm:spPr/>
      <dgm:t>
        <a:bodyPr/>
        <a:lstStyle/>
        <a:p>
          <a:endParaRPr lang="en-US"/>
        </a:p>
      </dgm:t>
    </dgm:pt>
    <dgm:pt modelId="{D9AAD5DE-30AD-48BC-845E-5810C8081CA7}">
      <dgm:prSet/>
      <dgm:spPr/>
      <dgm:t>
        <a:bodyPr/>
        <a:lstStyle/>
        <a:p>
          <a:r>
            <a:rPr lang="en-US" b="1" i="0" kern="1200" baseline="0"/>
            <a:t>Granularity:</a:t>
          </a:r>
          <a:r>
            <a:rPr lang="en-US" b="0" i="0" kern="1200" baseline="0"/>
            <a:t> </a:t>
          </a:r>
          <a:r>
            <a:rPr lang="en-US" kern="1200">
              <a:latin typeface="Franklin Gothic Book"/>
              <a:ea typeface="+mn-ea"/>
              <a:cs typeface="+mn-cs"/>
            </a:rPr>
            <a:t>Each row represents an individual product purchase at store level</a:t>
          </a:r>
        </a:p>
      </dgm:t>
    </dgm:pt>
    <dgm:pt modelId="{13D15ACD-1DA7-44C2-9391-B253C2B05809}" type="parTrans" cxnId="{DB3DE51D-11F3-4295-8F64-A0DDA9AADC01}">
      <dgm:prSet/>
      <dgm:spPr/>
      <dgm:t>
        <a:bodyPr/>
        <a:lstStyle/>
        <a:p>
          <a:endParaRPr lang="en-US"/>
        </a:p>
      </dgm:t>
    </dgm:pt>
    <dgm:pt modelId="{E3E1A8B7-60E2-4EB7-85E9-E2A462227506}" type="sibTrans" cxnId="{DB3DE51D-11F3-4295-8F64-A0DDA9AADC01}">
      <dgm:prSet/>
      <dgm:spPr/>
      <dgm:t>
        <a:bodyPr/>
        <a:lstStyle/>
        <a:p>
          <a:endParaRPr lang="en-US"/>
        </a:p>
      </dgm:t>
    </dgm:pt>
    <dgm:pt modelId="{BBA43D98-27C5-4FF8-8D0F-433615840082}">
      <dgm:prSet/>
      <dgm:spPr/>
      <dgm:t>
        <a:bodyPr/>
        <a:lstStyle/>
        <a:p>
          <a:r>
            <a:rPr lang="en-US" b="0" kern="1200">
              <a:latin typeface="Franklin Gothic Book"/>
              <a:ea typeface="+mn-ea"/>
              <a:cs typeface="+mn-cs"/>
            </a:rPr>
            <a:t>Geographic Coverage:</a:t>
          </a:r>
          <a:r>
            <a:rPr lang="en-US" kern="1200">
              <a:latin typeface="Franklin Gothic Book"/>
              <a:ea typeface="+mn-ea"/>
              <a:cs typeface="+mn-cs"/>
            </a:rPr>
            <a:t> Statewide across Iowa cities and counties</a:t>
          </a:r>
        </a:p>
      </dgm:t>
    </dgm:pt>
    <dgm:pt modelId="{F99CC844-74BA-45FD-958D-5816E83225D5}" type="parTrans" cxnId="{6280D921-9982-481F-A2CF-02316444686D}">
      <dgm:prSet/>
      <dgm:spPr/>
      <dgm:t>
        <a:bodyPr/>
        <a:lstStyle/>
        <a:p>
          <a:endParaRPr lang="en-US"/>
        </a:p>
      </dgm:t>
    </dgm:pt>
    <dgm:pt modelId="{8370C8C1-E96F-4AC8-AEE3-B71CE1CA0BD3}" type="sibTrans" cxnId="{6280D921-9982-481F-A2CF-02316444686D}">
      <dgm:prSet/>
      <dgm:spPr/>
      <dgm:t>
        <a:bodyPr/>
        <a:lstStyle/>
        <a:p>
          <a:endParaRPr lang="en-US"/>
        </a:p>
      </dgm:t>
    </dgm:pt>
    <dgm:pt modelId="{79360DF8-71BF-46C3-907B-F07293595234}">
      <dgm:prSet/>
      <dgm:spPr/>
      <dgm:t>
        <a:bodyPr/>
        <a:lstStyle/>
        <a:p>
          <a:r>
            <a:rPr lang="en-US" b="1" kern="1200">
              <a:latin typeface="Franklin Gothic Book"/>
              <a:ea typeface="+mn-ea"/>
              <a:cs typeface="+mn-cs"/>
            </a:rPr>
            <a:t>Key Metrics</a:t>
          </a:r>
          <a:r>
            <a:rPr lang="en-US" kern="1200">
              <a:latin typeface="Franklin Gothic Book"/>
              <a:ea typeface="+mn-ea"/>
              <a:cs typeface="+mn-cs"/>
            </a:rPr>
            <a:t>: Sales ($), Bottles Sold, Volume (Gallons), State Bottle Cost &amp; Retail</a:t>
          </a:r>
        </a:p>
      </dgm:t>
    </dgm:pt>
    <dgm:pt modelId="{C0A12EF1-A4C6-44B9-B3DF-730C3EDF2A0D}" type="parTrans" cxnId="{6ACBF6BA-74C6-4165-8C10-E36986FF0173}">
      <dgm:prSet/>
      <dgm:spPr/>
      <dgm:t>
        <a:bodyPr/>
        <a:lstStyle/>
        <a:p>
          <a:endParaRPr lang="en-US"/>
        </a:p>
      </dgm:t>
    </dgm:pt>
    <dgm:pt modelId="{3AA0D83C-23ED-4054-8973-0703A75BB216}" type="sibTrans" cxnId="{6ACBF6BA-74C6-4165-8C10-E36986FF0173}">
      <dgm:prSet/>
      <dgm:spPr/>
      <dgm:t>
        <a:bodyPr/>
        <a:lstStyle/>
        <a:p>
          <a:endParaRPr lang="en-US"/>
        </a:p>
      </dgm:t>
    </dgm:pt>
    <dgm:pt modelId="{24E41A23-C1A3-4E1A-BEE1-70B03444005A}" type="pres">
      <dgm:prSet presAssocID="{12800E22-C68C-4858-91CE-36B7D6C2286F}" presName="outerComposite" presStyleCnt="0">
        <dgm:presLayoutVars>
          <dgm:chMax val="5"/>
          <dgm:dir/>
          <dgm:resizeHandles val="exact"/>
        </dgm:presLayoutVars>
      </dgm:prSet>
      <dgm:spPr/>
    </dgm:pt>
    <dgm:pt modelId="{11821A1C-1176-455F-BF21-19A991432260}" type="pres">
      <dgm:prSet presAssocID="{12800E22-C68C-4858-91CE-36B7D6C2286F}" presName="dummyMaxCanvas" presStyleCnt="0">
        <dgm:presLayoutVars/>
      </dgm:prSet>
      <dgm:spPr/>
    </dgm:pt>
    <dgm:pt modelId="{369EBDD2-3A09-4979-ABBE-C6F1E2F7A0A0}" type="pres">
      <dgm:prSet presAssocID="{12800E22-C68C-4858-91CE-36B7D6C2286F}" presName="FiveNodes_1" presStyleLbl="node1" presStyleIdx="0" presStyleCnt="5">
        <dgm:presLayoutVars>
          <dgm:bulletEnabled val="1"/>
        </dgm:presLayoutVars>
      </dgm:prSet>
      <dgm:spPr/>
    </dgm:pt>
    <dgm:pt modelId="{DE587FA1-6CAD-4823-B611-68933F4B6057}" type="pres">
      <dgm:prSet presAssocID="{12800E22-C68C-4858-91CE-36B7D6C2286F}" presName="FiveNodes_2" presStyleLbl="node1" presStyleIdx="1" presStyleCnt="5">
        <dgm:presLayoutVars>
          <dgm:bulletEnabled val="1"/>
        </dgm:presLayoutVars>
      </dgm:prSet>
      <dgm:spPr/>
    </dgm:pt>
    <dgm:pt modelId="{9861322A-A827-43F1-A2E4-5B7C43A1E12A}" type="pres">
      <dgm:prSet presAssocID="{12800E22-C68C-4858-91CE-36B7D6C2286F}" presName="FiveNodes_3" presStyleLbl="node1" presStyleIdx="2" presStyleCnt="5">
        <dgm:presLayoutVars>
          <dgm:bulletEnabled val="1"/>
        </dgm:presLayoutVars>
      </dgm:prSet>
      <dgm:spPr/>
    </dgm:pt>
    <dgm:pt modelId="{13CD76FC-FCF2-4A7F-B946-94D22504F526}" type="pres">
      <dgm:prSet presAssocID="{12800E22-C68C-4858-91CE-36B7D6C2286F}" presName="FiveNodes_4" presStyleLbl="node1" presStyleIdx="3" presStyleCnt="5">
        <dgm:presLayoutVars>
          <dgm:bulletEnabled val="1"/>
        </dgm:presLayoutVars>
      </dgm:prSet>
      <dgm:spPr/>
    </dgm:pt>
    <dgm:pt modelId="{60CA9757-C13B-47E6-B172-E3140A1B3C9D}" type="pres">
      <dgm:prSet presAssocID="{12800E22-C68C-4858-91CE-36B7D6C2286F}" presName="FiveNodes_5" presStyleLbl="node1" presStyleIdx="4" presStyleCnt="5">
        <dgm:presLayoutVars>
          <dgm:bulletEnabled val="1"/>
        </dgm:presLayoutVars>
      </dgm:prSet>
      <dgm:spPr/>
    </dgm:pt>
    <dgm:pt modelId="{AD58BE87-50F1-4D23-A3FB-38062C400141}" type="pres">
      <dgm:prSet presAssocID="{12800E22-C68C-4858-91CE-36B7D6C2286F}" presName="FiveConn_1-2" presStyleLbl="fgAccFollowNode1" presStyleIdx="0" presStyleCnt="4">
        <dgm:presLayoutVars>
          <dgm:bulletEnabled val="1"/>
        </dgm:presLayoutVars>
      </dgm:prSet>
      <dgm:spPr/>
    </dgm:pt>
    <dgm:pt modelId="{AACB446E-0FDD-455E-925D-ED99EA551CDA}" type="pres">
      <dgm:prSet presAssocID="{12800E22-C68C-4858-91CE-36B7D6C2286F}" presName="FiveConn_2-3" presStyleLbl="fgAccFollowNode1" presStyleIdx="1" presStyleCnt="4">
        <dgm:presLayoutVars>
          <dgm:bulletEnabled val="1"/>
        </dgm:presLayoutVars>
      </dgm:prSet>
      <dgm:spPr/>
    </dgm:pt>
    <dgm:pt modelId="{394BE18D-02D0-4EC2-A84E-15AC3435A3FC}" type="pres">
      <dgm:prSet presAssocID="{12800E22-C68C-4858-91CE-36B7D6C2286F}" presName="FiveConn_3-4" presStyleLbl="fgAccFollowNode1" presStyleIdx="2" presStyleCnt="4">
        <dgm:presLayoutVars>
          <dgm:bulletEnabled val="1"/>
        </dgm:presLayoutVars>
      </dgm:prSet>
      <dgm:spPr/>
    </dgm:pt>
    <dgm:pt modelId="{0AEBAE09-12E1-4328-A377-C14500548533}" type="pres">
      <dgm:prSet presAssocID="{12800E22-C68C-4858-91CE-36B7D6C2286F}" presName="FiveConn_4-5" presStyleLbl="fgAccFollowNode1" presStyleIdx="3" presStyleCnt="4">
        <dgm:presLayoutVars>
          <dgm:bulletEnabled val="1"/>
        </dgm:presLayoutVars>
      </dgm:prSet>
      <dgm:spPr/>
    </dgm:pt>
    <dgm:pt modelId="{7D4018CC-1490-4B98-B272-37FCD19349F1}" type="pres">
      <dgm:prSet presAssocID="{12800E22-C68C-4858-91CE-36B7D6C2286F}" presName="FiveNodes_1_text" presStyleLbl="node1" presStyleIdx="4" presStyleCnt="5">
        <dgm:presLayoutVars>
          <dgm:bulletEnabled val="1"/>
        </dgm:presLayoutVars>
      </dgm:prSet>
      <dgm:spPr/>
    </dgm:pt>
    <dgm:pt modelId="{45103DE1-D191-47B8-B4B5-2B0CDF5DA252}" type="pres">
      <dgm:prSet presAssocID="{12800E22-C68C-4858-91CE-36B7D6C2286F}" presName="FiveNodes_2_text" presStyleLbl="node1" presStyleIdx="4" presStyleCnt="5">
        <dgm:presLayoutVars>
          <dgm:bulletEnabled val="1"/>
        </dgm:presLayoutVars>
      </dgm:prSet>
      <dgm:spPr/>
    </dgm:pt>
    <dgm:pt modelId="{F90A23CC-A32F-4A79-BF1C-ADE9DA1DD396}" type="pres">
      <dgm:prSet presAssocID="{12800E22-C68C-4858-91CE-36B7D6C2286F}" presName="FiveNodes_3_text" presStyleLbl="node1" presStyleIdx="4" presStyleCnt="5">
        <dgm:presLayoutVars>
          <dgm:bulletEnabled val="1"/>
        </dgm:presLayoutVars>
      </dgm:prSet>
      <dgm:spPr/>
    </dgm:pt>
    <dgm:pt modelId="{8A44A35E-3420-4403-8840-B5CF9159178A}" type="pres">
      <dgm:prSet presAssocID="{12800E22-C68C-4858-91CE-36B7D6C2286F}" presName="FiveNodes_4_text" presStyleLbl="node1" presStyleIdx="4" presStyleCnt="5">
        <dgm:presLayoutVars>
          <dgm:bulletEnabled val="1"/>
        </dgm:presLayoutVars>
      </dgm:prSet>
      <dgm:spPr/>
    </dgm:pt>
    <dgm:pt modelId="{A43F1F1A-E538-4DEE-877C-1C9CEBB3332E}" type="pres">
      <dgm:prSet presAssocID="{12800E22-C68C-4858-91CE-36B7D6C2286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9F68F11-F6FC-466B-AB6A-608FC1F77F87}" type="presOf" srcId="{D643A8CD-8CB4-43CB-B66A-948509463E4B}" destId="{369EBDD2-3A09-4979-ABBE-C6F1E2F7A0A0}" srcOrd="0" destOrd="0" presId="urn:microsoft.com/office/officeart/2005/8/layout/vProcess5"/>
    <dgm:cxn modelId="{DB3DE51D-11F3-4295-8F64-A0DDA9AADC01}" srcId="{12800E22-C68C-4858-91CE-36B7D6C2286F}" destId="{D9AAD5DE-30AD-48BC-845E-5810C8081CA7}" srcOrd="2" destOrd="0" parTransId="{13D15ACD-1DA7-44C2-9391-B253C2B05809}" sibTransId="{E3E1A8B7-60E2-4EB7-85E9-E2A462227506}"/>
    <dgm:cxn modelId="{6280D921-9982-481F-A2CF-02316444686D}" srcId="{12800E22-C68C-4858-91CE-36B7D6C2286F}" destId="{BBA43D98-27C5-4FF8-8D0F-433615840082}" srcOrd="3" destOrd="0" parTransId="{F99CC844-74BA-45FD-958D-5816E83225D5}" sibTransId="{8370C8C1-E96F-4AC8-AEE3-B71CE1CA0BD3}"/>
    <dgm:cxn modelId="{14CAC62F-C20A-47F3-85C4-8A85A5B48812}" type="presOf" srcId="{BBA43D98-27C5-4FF8-8D0F-433615840082}" destId="{13CD76FC-FCF2-4A7F-B946-94D22504F526}" srcOrd="0" destOrd="0" presId="urn:microsoft.com/office/officeart/2005/8/layout/vProcess5"/>
    <dgm:cxn modelId="{CE523E60-23A6-4DBB-99E9-272B8C5B13A2}" srcId="{12800E22-C68C-4858-91CE-36B7D6C2286F}" destId="{D643A8CD-8CB4-43CB-B66A-948509463E4B}" srcOrd="0" destOrd="0" parTransId="{08473295-F8F7-40F2-BBDB-6D768F1BE0C7}" sibTransId="{3C82748E-2287-433D-95CC-8C4996A69FC0}"/>
    <dgm:cxn modelId="{3E045E65-0396-4173-BE7A-CFDA37232077}" type="presOf" srcId="{E3E1A8B7-60E2-4EB7-85E9-E2A462227506}" destId="{394BE18D-02D0-4EC2-A84E-15AC3435A3FC}" srcOrd="0" destOrd="0" presId="urn:microsoft.com/office/officeart/2005/8/layout/vProcess5"/>
    <dgm:cxn modelId="{37F93246-BEB6-4503-BBDB-B0763B8ACD3D}" type="presOf" srcId="{1EBEBAA3-D0AD-4EAA-A588-3D431BE8AEA8}" destId="{DE587FA1-6CAD-4823-B611-68933F4B6057}" srcOrd="0" destOrd="0" presId="urn:microsoft.com/office/officeart/2005/8/layout/vProcess5"/>
    <dgm:cxn modelId="{3984834B-1FA8-4E33-A507-BAC05F2030EC}" type="presOf" srcId="{4332CD81-D122-4B35-8284-DB075A7117D6}" destId="{AACB446E-0FDD-455E-925D-ED99EA551CDA}" srcOrd="0" destOrd="0" presId="urn:microsoft.com/office/officeart/2005/8/layout/vProcess5"/>
    <dgm:cxn modelId="{021CFD6D-7407-4F8A-858B-E2EAADBA17DC}" type="presOf" srcId="{79360DF8-71BF-46C3-907B-F07293595234}" destId="{A43F1F1A-E538-4DEE-877C-1C9CEBB3332E}" srcOrd="1" destOrd="0" presId="urn:microsoft.com/office/officeart/2005/8/layout/vProcess5"/>
    <dgm:cxn modelId="{6B28C44F-C785-41B0-BA60-BE8BACF4D18F}" type="presOf" srcId="{D9AAD5DE-30AD-48BC-845E-5810C8081CA7}" destId="{9861322A-A827-43F1-A2E4-5B7C43A1E12A}" srcOrd="0" destOrd="0" presId="urn:microsoft.com/office/officeart/2005/8/layout/vProcess5"/>
    <dgm:cxn modelId="{D525C451-4252-4BA5-B908-33C6604F14AE}" type="presOf" srcId="{D9AAD5DE-30AD-48BC-845E-5810C8081CA7}" destId="{F90A23CC-A32F-4A79-BF1C-ADE9DA1DD396}" srcOrd="1" destOrd="0" presId="urn:microsoft.com/office/officeart/2005/8/layout/vProcess5"/>
    <dgm:cxn modelId="{53262674-05FA-4450-A58A-EE77524A6C90}" srcId="{12800E22-C68C-4858-91CE-36B7D6C2286F}" destId="{1EBEBAA3-D0AD-4EAA-A588-3D431BE8AEA8}" srcOrd="1" destOrd="0" parTransId="{DE63F35D-C10C-4FC4-887E-3C9AE2E467EA}" sibTransId="{4332CD81-D122-4B35-8284-DB075A7117D6}"/>
    <dgm:cxn modelId="{AB2A4F78-03C5-4E07-9223-C351724F5ED6}" type="presOf" srcId="{1EBEBAA3-D0AD-4EAA-A588-3D431BE8AEA8}" destId="{45103DE1-D191-47B8-B4B5-2B0CDF5DA252}" srcOrd="1" destOrd="0" presId="urn:microsoft.com/office/officeart/2005/8/layout/vProcess5"/>
    <dgm:cxn modelId="{81E88EB1-AC8E-4A26-B0F6-3B6C13715E13}" type="presOf" srcId="{12800E22-C68C-4858-91CE-36B7D6C2286F}" destId="{24E41A23-C1A3-4E1A-BEE1-70B03444005A}" srcOrd="0" destOrd="0" presId="urn:microsoft.com/office/officeart/2005/8/layout/vProcess5"/>
    <dgm:cxn modelId="{6ACBF6BA-74C6-4165-8C10-E36986FF0173}" srcId="{12800E22-C68C-4858-91CE-36B7D6C2286F}" destId="{79360DF8-71BF-46C3-907B-F07293595234}" srcOrd="4" destOrd="0" parTransId="{C0A12EF1-A4C6-44B9-B3DF-730C3EDF2A0D}" sibTransId="{3AA0D83C-23ED-4054-8973-0703A75BB216}"/>
    <dgm:cxn modelId="{51DC46C0-0FEF-4E97-8054-41ADC7E034E0}" type="presOf" srcId="{8370C8C1-E96F-4AC8-AEE3-B71CE1CA0BD3}" destId="{0AEBAE09-12E1-4328-A377-C14500548533}" srcOrd="0" destOrd="0" presId="urn:microsoft.com/office/officeart/2005/8/layout/vProcess5"/>
    <dgm:cxn modelId="{94046ECF-E062-41F3-990B-E7BDC45D4739}" type="presOf" srcId="{D643A8CD-8CB4-43CB-B66A-948509463E4B}" destId="{7D4018CC-1490-4B98-B272-37FCD19349F1}" srcOrd="1" destOrd="0" presId="urn:microsoft.com/office/officeart/2005/8/layout/vProcess5"/>
    <dgm:cxn modelId="{9E6F59D9-F447-4895-A8D4-4ABE74AD3604}" type="presOf" srcId="{3C82748E-2287-433D-95CC-8C4996A69FC0}" destId="{AD58BE87-50F1-4D23-A3FB-38062C400141}" srcOrd="0" destOrd="0" presId="urn:microsoft.com/office/officeart/2005/8/layout/vProcess5"/>
    <dgm:cxn modelId="{CE5C6BFF-DEB3-4BD3-9588-5F1CD07B870D}" type="presOf" srcId="{BBA43D98-27C5-4FF8-8D0F-433615840082}" destId="{8A44A35E-3420-4403-8840-B5CF9159178A}" srcOrd="1" destOrd="0" presId="urn:microsoft.com/office/officeart/2005/8/layout/vProcess5"/>
    <dgm:cxn modelId="{269180FF-9969-4775-999D-8F35B12DDCCE}" type="presOf" srcId="{79360DF8-71BF-46C3-907B-F07293595234}" destId="{60CA9757-C13B-47E6-B172-E3140A1B3C9D}" srcOrd="0" destOrd="0" presId="urn:microsoft.com/office/officeart/2005/8/layout/vProcess5"/>
    <dgm:cxn modelId="{C6AD9C4E-BA18-4FF9-8CC9-CF693CECFC0F}" type="presParOf" srcId="{24E41A23-C1A3-4E1A-BEE1-70B03444005A}" destId="{11821A1C-1176-455F-BF21-19A991432260}" srcOrd="0" destOrd="0" presId="urn:microsoft.com/office/officeart/2005/8/layout/vProcess5"/>
    <dgm:cxn modelId="{06EE14DE-0202-458E-BA4E-8772898E61F3}" type="presParOf" srcId="{24E41A23-C1A3-4E1A-BEE1-70B03444005A}" destId="{369EBDD2-3A09-4979-ABBE-C6F1E2F7A0A0}" srcOrd="1" destOrd="0" presId="urn:microsoft.com/office/officeart/2005/8/layout/vProcess5"/>
    <dgm:cxn modelId="{86E71421-0FC0-4F3E-BF24-D1E76D7383D5}" type="presParOf" srcId="{24E41A23-C1A3-4E1A-BEE1-70B03444005A}" destId="{DE587FA1-6CAD-4823-B611-68933F4B6057}" srcOrd="2" destOrd="0" presId="urn:microsoft.com/office/officeart/2005/8/layout/vProcess5"/>
    <dgm:cxn modelId="{08C97A1C-FED9-4ACF-BBD6-2AE9CE198033}" type="presParOf" srcId="{24E41A23-C1A3-4E1A-BEE1-70B03444005A}" destId="{9861322A-A827-43F1-A2E4-5B7C43A1E12A}" srcOrd="3" destOrd="0" presId="urn:microsoft.com/office/officeart/2005/8/layout/vProcess5"/>
    <dgm:cxn modelId="{EDDC11B0-4AB0-49A5-97BC-9848D38EB847}" type="presParOf" srcId="{24E41A23-C1A3-4E1A-BEE1-70B03444005A}" destId="{13CD76FC-FCF2-4A7F-B946-94D22504F526}" srcOrd="4" destOrd="0" presId="urn:microsoft.com/office/officeart/2005/8/layout/vProcess5"/>
    <dgm:cxn modelId="{B373FB3A-881A-4965-84CD-9FE44F0B9563}" type="presParOf" srcId="{24E41A23-C1A3-4E1A-BEE1-70B03444005A}" destId="{60CA9757-C13B-47E6-B172-E3140A1B3C9D}" srcOrd="5" destOrd="0" presId="urn:microsoft.com/office/officeart/2005/8/layout/vProcess5"/>
    <dgm:cxn modelId="{690D0B04-10DF-4758-92A6-88BD5E87027C}" type="presParOf" srcId="{24E41A23-C1A3-4E1A-BEE1-70B03444005A}" destId="{AD58BE87-50F1-4D23-A3FB-38062C400141}" srcOrd="6" destOrd="0" presId="urn:microsoft.com/office/officeart/2005/8/layout/vProcess5"/>
    <dgm:cxn modelId="{94CB5A80-FD9E-4E41-B550-5D246D9B0B0A}" type="presParOf" srcId="{24E41A23-C1A3-4E1A-BEE1-70B03444005A}" destId="{AACB446E-0FDD-455E-925D-ED99EA551CDA}" srcOrd="7" destOrd="0" presId="urn:microsoft.com/office/officeart/2005/8/layout/vProcess5"/>
    <dgm:cxn modelId="{144A8CB3-3DA8-4EAD-BB7D-8B98CDFACA5E}" type="presParOf" srcId="{24E41A23-C1A3-4E1A-BEE1-70B03444005A}" destId="{394BE18D-02D0-4EC2-A84E-15AC3435A3FC}" srcOrd="8" destOrd="0" presId="urn:microsoft.com/office/officeart/2005/8/layout/vProcess5"/>
    <dgm:cxn modelId="{4912C287-4118-4F6E-8977-8D006052E98D}" type="presParOf" srcId="{24E41A23-C1A3-4E1A-BEE1-70B03444005A}" destId="{0AEBAE09-12E1-4328-A377-C14500548533}" srcOrd="9" destOrd="0" presId="urn:microsoft.com/office/officeart/2005/8/layout/vProcess5"/>
    <dgm:cxn modelId="{DF893D1C-9E33-4EE2-BE67-D978323F5C05}" type="presParOf" srcId="{24E41A23-C1A3-4E1A-BEE1-70B03444005A}" destId="{7D4018CC-1490-4B98-B272-37FCD19349F1}" srcOrd="10" destOrd="0" presId="urn:microsoft.com/office/officeart/2005/8/layout/vProcess5"/>
    <dgm:cxn modelId="{6D613425-738B-4D97-A376-79CD064040FA}" type="presParOf" srcId="{24E41A23-C1A3-4E1A-BEE1-70B03444005A}" destId="{45103DE1-D191-47B8-B4B5-2B0CDF5DA252}" srcOrd="11" destOrd="0" presId="urn:microsoft.com/office/officeart/2005/8/layout/vProcess5"/>
    <dgm:cxn modelId="{34533ADD-5F32-40A3-A239-7DEFA69F6915}" type="presParOf" srcId="{24E41A23-C1A3-4E1A-BEE1-70B03444005A}" destId="{F90A23CC-A32F-4A79-BF1C-ADE9DA1DD396}" srcOrd="12" destOrd="0" presId="urn:microsoft.com/office/officeart/2005/8/layout/vProcess5"/>
    <dgm:cxn modelId="{6614BC47-0873-4159-AEA6-6AD290D5273C}" type="presParOf" srcId="{24E41A23-C1A3-4E1A-BEE1-70B03444005A}" destId="{8A44A35E-3420-4403-8840-B5CF9159178A}" srcOrd="13" destOrd="0" presId="urn:microsoft.com/office/officeart/2005/8/layout/vProcess5"/>
    <dgm:cxn modelId="{87CEA580-818E-43E4-8805-5B46194A7729}" type="presParOf" srcId="{24E41A23-C1A3-4E1A-BEE1-70B03444005A}" destId="{A43F1F1A-E538-4DEE-877C-1C9CEBB3332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C34A0C-2AE6-46FA-87B3-B0F0FACFD5C5}">
      <dsp:nvSpPr>
        <dsp:cNvPr id="0" name=""/>
        <dsp:cNvSpPr/>
      </dsp:nvSpPr>
      <dsp:spPr>
        <a:xfrm>
          <a:off x="0" y="1199"/>
          <a:ext cx="6787747" cy="511188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492B9B-23FB-4DB8-A0D7-A70B52524345}">
      <dsp:nvSpPr>
        <dsp:cNvPr id="0" name=""/>
        <dsp:cNvSpPr/>
      </dsp:nvSpPr>
      <dsp:spPr>
        <a:xfrm>
          <a:off x="154634" y="116217"/>
          <a:ext cx="281153" cy="2811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8C8957-0B79-40F8-8939-94D1271DA7C5}">
      <dsp:nvSpPr>
        <dsp:cNvPr id="0" name=""/>
        <dsp:cNvSpPr/>
      </dsp:nvSpPr>
      <dsp:spPr>
        <a:xfrm>
          <a:off x="590422" y="1199"/>
          <a:ext cx="6197324" cy="511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01" tIns="54101" rIns="54101" bIns="541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Introduction &amp; Objectives</a:t>
          </a:r>
        </a:p>
      </dsp:txBody>
      <dsp:txXfrm>
        <a:off x="590422" y="1199"/>
        <a:ext cx="6197324" cy="511188"/>
      </dsp:txXfrm>
    </dsp:sp>
    <dsp:sp modelId="{83112F60-73F6-4561-A308-A29BF8E35B35}">
      <dsp:nvSpPr>
        <dsp:cNvPr id="0" name=""/>
        <dsp:cNvSpPr/>
      </dsp:nvSpPr>
      <dsp:spPr>
        <a:xfrm>
          <a:off x="0" y="640185"/>
          <a:ext cx="6787747" cy="511188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ACBEC1-0078-4376-8570-376506FCBE5D}">
      <dsp:nvSpPr>
        <dsp:cNvPr id="0" name=""/>
        <dsp:cNvSpPr/>
      </dsp:nvSpPr>
      <dsp:spPr>
        <a:xfrm>
          <a:off x="154634" y="755202"/>
          <a:ext cx="281153" cy="2811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C8416-494F-45D4-960B-2A01D5A59ACF}">
      <dsp:nvSpPr>
        <dsp:cNvPr id="0" name=""/>
        <dsp:cNvSpPr/>
      </dsp:nvSpPr>
      <dsp:spPr>
        <a:xfrm>
          <a:off x="590422" y="640185"/>
          <a:ext cx="6197324" cy="511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01" tIns="54101" rIns="54101" bIns="541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Overview</a:t>
          </a:r>
        </a:p>
      </dsp:txBody>
      <dsp:txXfrm>
        <a:off x="590422" y="640185"/>
        <a:ext cx="6197324" cy="511188"/>
      </dsp:txXfrm>
    </dsp:sp>
    <dsp:sp modelId="{4A4FD3CA-23C0-44A1-833E-2E2A9F0D75B8}">
      <dsp:nvSpPr>
        <dsp:cNvPr id="0" name=""/>
        <dsp:cNvSpPr/>
      </dsp:nvSpPr>
      <dsp:spPr>
        <a:xfrm>
          <a:off x="0" y="1279171"/>
          <a:ext cx="6787747" cy="511188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25083-2883-4525-9C4D-BBDB1369F164}">
      <dsp:nvSpPr>
        <dsp:cNvPr id="0" name=""/>
        <dsp:cNvSpPr/>
      </dsp:nvSpPr>
      <dsp:spPr>
        <a:xfrm>
          <a:off x="154634" y="1394188"/>
          <a:ext cx="281153" cy="2811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44872-8285-4D10-BE17-3E52F4CDFF1A}">
      <dsp:nvSpPr>
        <dsp:cNvPr id="0" name=""/>
        <dsp:cNvSpPr/>
      </dsp:nvSpPr>
      <dsp:spPr>
        <a:xfrm>
          <a:off x="590422" y="1279171"/>
          <a:ext cx="6197324" cy="511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01" tIns="54101" rIns="54101" bIns="541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Revenue Performance</a:t>
          </a:r>
        </a:p>
      </dsp:txBody>
      <dsp:txXfrm>
        <a:off x="590422" y="1279171"/>
        <a:ext cx="6197324" cy="511188"/>
      </dsp:txXfrm>
    </dsp:sp>
    <dsp:sp modelId="{28F139C9-01D4-473C-B1F8-A30C2E027C8C}">
      <dsp:nvSpPr>
        <dsp:cNvPr id="0" name=""/>
        <dsp:cNvSpPr/>
      </dsp:nvSpPr>
      <dsp:spPr>
        <a:xfrm>
          <a:off x="0" y="1918157"/>
          <a:ext cx="6787747" cy="511188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91CA30-996F-483E-A626-66717DB80881}">
      <dsp:nvSpPr>
        <dsp:cNvPr id="0" name=""/>
        <dsp:cNvSpPr/>
      </dsp:nvSpPr>
      <dsp:spPr>
        <a:xfrm>
          <a:off x="154634" y="2033174"/>
          <a:ext cx="281153" cy="2811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88839-26E7-4951-BAA9-6BA76F55E909}">
      <dsp:nvSpPr>
        <dsp:cNvPr id="0" name=""/>
        <dsp:cNvSpPr/>
      </dsp:nvSpPr>
      <dsp:spPr>
        <a:xfrm>
          <a:off x="590422" y="1918157"/>
          <a:ext cx="6197324" cy="511188"/>
        </a:xfrm>
        <a:prstGeom prst="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01" tIns="54101" rIns="54101" bIns="541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Geographic Concentration</a:t>
          </a:r>
        </a:p>
      </dsp:txBody>
      <dsp:txXfrm>
        <a:off x="590422" y="1918157"/>
        <a:ext cx="6197324" cy="511188"/>
      </dsp:txXfrm>
    </dsp:sp>
    <dsp:sp modelId="{8A197D15-28E8-4A3C-BF48-CFCB372BD986}">
      <dsp:nvSpPr>
        <dsp:cNvPr id="0" name=""/>
        <dsp:cNvSpPr/>
      </dsp:nvSpPr>
      <dsp:spPr>
        <a:xfrm>
          <a:off x="0" y="2557142"/>
          <a:ext cx="6787747" cy="511188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8963D-F10B-49B0-BFF7-F886FC816455}">
      <dsp:nvSpPr>
        <dsp:cNvPr id="0" name=""/>
        <dsp:cNvSpPr/>
      </dsp:nvSpPr>
      <dsp:spPr>
        <a:xfrm>
          <a:off x="154634" y="2672160"/>
          <a:ext cx="281153" cy="2811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AF99B-7B01-4C71-9EB9-75E946CF6D59}">
      <dsp:nvSpPr>
        <dsp:cNvPr id="0" name=""/>
        <dsp:cNvSpPr/>
      </dsp:nvSpPr>
      <dsp:spPr>
        <a:xfrm>
          <a:off x="590422" y="2557142"/>
          <a:ext cx="6197324" cy="511188"/>
        </a:xfrm>
        <a:prstGeom prst="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01" tIns="54101" rIns="54101" bIns="541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Product &amp; Category Insights</a:t>
          </a:r>
        </a:p>
      </dsp:txBody>
      <dsp:txXfrm>
        <a:off x="590422" y="2557142"/>
        <a:ext cx="6197324" cy="511188"/>
      </dsp:txXfrm>
    </dsp:sp>
    <dsp:sp modelId="{9D19556A-45BC-4F9B-A298-35DC1A1B71A8}">
      <dsp:nvSpPr>
        <dsp:cNvPr id="0" name=""/>
        <dsp:cNvSpPr/>
      </dsp:nvSpPr>
      <dsp:spPr>
        <a:xfrm>
          <a:off x="0" y="3196128"/>
          <a:ext cx="6787747" cy="511188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A8C1B2-1B38-4CDD-86AE-76B750A715D1}">
      <dsp:nvSpPr>
        <dsp:cNvPr id="0" name=""/>
        <dsp:cNvSpPr/>
      </dsp:nvSpPr>
      <dsp:spPr>
        <a:xfrm>
          <a:off x="154634" y="3311146"/>
          <a:ext cx="281153" cy="28115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BD3FF-87ED-4CC8-ACE2-01BD4729983A}">
      <dsp:nvSpPr>
        <dsp:cNvPr id="0" name=""/>
        <dsp:cNvSpPr/>
      </dsp:nvSpPr>
      <dsp:spPr>
        <a:xfrm>
          <a:off x="590422" y="3196128"/>
          <a:ext cx="6197324" cy="511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01" tIns="54101" rIns="54101" bIns="541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Takeaways</a:t>
          </a:r>
        </a:p>
      </dsp:txBody>
      <dsp:txXfrm>
        <a:off x="590422" y="3196128"/>
        <a:ext cx="6197324" cy="5111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EBDD2-3A09-4979-ABBE-C6F1E2F7A0A0}">
      <dsp:nvSpPr>
        <dsp:cNvPr id="0" name=""/>
        <dsp:cNvSpPr/>
      </dsp:nvSpPr>
      <dsp:spPr>
        <a:xfrm>
          <a:off x="0" y="0"/>
          <a:ext cx="8449056" cy="6546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Source</a:t>
          </a:r>
          <a:r>
            <a:rPr lang="en-US" sz="1800" kern="1200">
              <a:latin typeface="Franklin Gothic Book"/>
              <a:ea typeface="+mn-ea"/>
              <a:cs typeface="+mn-cs"/>
            </a:rPr>
            <a:t>: Iowa Liquor Sales (</a:t>
          </a:r>
          <a:r>
            <a:rPr lang="en-US" sz="1800" kern="1200">
              <a:latin typeface="Franklin Gothic Book"/>
              <a:ea typeface="+mn-ea"/>
              <a:cs typeface="+mn-cs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Iowa Liquor Sales | data.iowa.gov</a:t>
          </a:r>
          <a:r>
            <a:rPr lang="en-US" sz="1800" kern="1200">
              <a:latin typeface="Franklin Gothic Book"/>
              <a:ea typeface="+mn-ea"/>
              <a:cs typeface="+mn-cs"/>
            </a:rPr>
            <a:t>)</a:t>
          </a:r>
        </a:p>
      </dsp:txBody>
      <dsp:txXfrm>
        <a:off x="19173" y="19173"/>
        <a:ext cx="7666087" cy="616267"/>
      </dsp:txXfrm>
    </dsp:sp>
    <dsp:sp modelId="{DE587FA1-6CAD-4823-B611-68933F4B6057}">
      <dsp:nvSpPr>
        <dsp:cNvPr id="0" name=""/>
        <dsp:cNvSpPr/>
      </dsp:nvSpPr>
      <dsp:spPr>
        <a:xfrm>
          <a:off x="630936" y="745531"/>
          <a:ext cx="8449056" cy="6546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Dataset Size:</a:t>
          </a:r>
          <a:r>
            <a:rPr lang="en-US" sz="1800" b="0" i="0" kern="1200" baseline="0"/>
            <a:t> </a:t>
          </a:r>
          <a:r>
            <a:rPr lang="en-US" sz="1800" kern="1200">
              <a:latin typeface="Franklin Gothic Book"/>
              <a:ea typeface="+mn-ea"/>
              <a:cs typeface="+mn-cs"/>
            </a:rPr>
            <a:t>33.3M transactions across 24 columns</a:t>
          </a:r>
        </a:p>
      </dsp:txBody>
      <dsp:txXfrm>
        <a:off x="650109" y="764704"/>
        <a:ext cx="7354275" cy="616267"/>
      </dsp:txXfrm>
    </dsp:sp>
    <dsp:sp modelId="{9861322A-A827-43F1-A2E4-5B7C43A1E12A}">
      <dsp:nvSpPr>
        <dsp:cNvPr id="0" name=""/>
        <dsp:cNvSpPr/>
      </dsp:nvSpPr>
      <dsp:spPr>
        <a:xfrm>
          <a:off x="1261871" y="1491063"/>
          <a:ext cx="8449056" cy="6546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Granularity:</a:t>
          </a:r>
          <a:r>
            <a:rPr lang="en-US" sz="1800" b="0" i="0" kern="1200" baseline="0"/>
            <a:t> </a:t>
          </a:r>
          <a:r>
            <a:rPr lang="en-US" sz="1800" kern="1200">
              <a:latin typeface="Franklin Gothic Book"/>
              <a:ea typeface="+mn-ea"/>
              <a:cs typeface="+mn-cs"/>
            </a:rPr>
            <a:t>Each row represents an individual product purchase at store level</a:t>
          </a:r>
        </a:p>
      </dsp:txBody>
      <dsp:txXfrm>
        <a:off x="1281044" y="1510236"/>
        <a:ext cx="7354275" cy="616267"/>
      </dsp:txXfrm>
    </dsp:sp>
    <dsp:sp modelId="{13CD76FC-FCF2-4A7F-B946-94D22504F526}">
      <dsp:nvSpPr>
        <dsp:cNvPr id="0" name=""/>
        <dsp:cNvSpPr/>
      </dsp:nvSpPr>
      <dsp:spPr>
        <a:xfrm>
          <a:off x="1892808" y="2236595"/>
          <a:ext cx="8449056" cy="6546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Franklin Gothic Book"/>
              <a:ea typeface="+mn-ea"/>
              <a:cs typeface="+mn-cs"/>
            </a:rPr>
            <a:t>Geographic Coverage:</a:t>
          </a:r>
          <a:r>
            <a:rPr lang="en-US" sz="1800" kern="1200">
              <a:latin typeface="Franklin Gothic Book"/>
              <a:ea typeface="+mn-ea"/>
              <a:cs typeface="+mn-cs"/>
            </a:rPr>
            <a:t> Statewide across Iowa cities and counties</a:t>
          </a:r>
        </a:p>
      </dsp:txBody>
      <dsp:txXfrm>
        <a:off x="1911981" y="2255768"/>
        <a:ext cx="7354275" cy="616267"/>
      </dsp:txXfrm>
    </dsp:sp>
    <dsp:sp modelId="{60CA9757-C13B-47E6-B172-E3140A1B3C9D}">
      <dsp:nvSpPr>
        <dsp:cNvPr id="0" name=""/>
        <dsp:cNvSpPr/>
      </dsp:nvSpPr>
      <dsp:spPr>
        <a:xfrm>
          <a:off x="2523743" y="2982126"/>
          <a:ext cx="8449056" cy="6546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Franklin Gothic Book"/>
              <a:ea typeface="+mn-ea"/>
              <a:cs typeface="+mn-cs"/>
            </a:rPr>
            <a:t>Key Metrics</a:t>
          </a:r>
          <a:r>
            <a:rPr lang="en-US" sz="1800" kern="1200">
              <a:latin typeface="Franklin Gothic Book"/>
              <a:ea typeface="+mn-ea"/>
              <a:cs typeface="+mn-cs"/>
            </a:rPr>
            <a:t>: Sales ($), Bottles Sold, Volume (Gallons), State Bottle Cost &amp; Retail</a:t>
          </a:r>
        </a:p>
      </dsp:txBody>
      <dsp:txXfrm>
        <a:off x="2542916" y="3001299"/>
        <a:ext cx="7354275" cy="616267"/>
      </dsp:txXfrm>
    </dsp:sp>
    <dsp:sp modelId="{AD58BE87-50F1-4D23-A3FB-38062C400141}">
      <dsp:nvSpPr>
        <dsp:cNvPr id="0" name=""/>
        <dsp:cNvSpPr/>
      </dsp:nvSpPr>
      <dsp:spPr>
        <a:xfrm>
          <a:off x="8023557" y="478231"/>
          <a:ext cx="425498" cy="42549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119294" y="478231"/>
        <a:ext cx="234024" cy="320187"/>
      </dsp:txXfrm>
    </dsp:sp>
    <dsp:sp modelId="{AACB446E-0FDD-455E-925D-ED99EA551CDA}">
      <dsp:nvSpPr>
        <dsp:cNvPr id="0" name=""/>
        <dsp:cNvSpPr/>
      </dsp:nvSpPr>
      <dsp:spPr>
        <a:xfrm>
          <a:off x="8654493" y="1223763"/>
          <a:ext cx="425498" cy="42549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750230" y="1223763"/>
        <a:ext cx="234024" cy="320187"/>
      </dsp:txXfrm>
    </dsp:sp>
    <dsp:sp modelId="{394BE18D-02D0-4EC2-A84E-15AC3435A3FC}">
      <dsp:nvSpPr>
        <dsp:cNvPr id="0" name=""/>
        <dsp:cNvSpPr/>
      </dsp:nvSpPr>
      <dsp:spPr>
        <a:xfrm>
          <a:off x="9285429" y="1958384"/>
          <a:ext cx="425498" cy="42549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381166" y="1958384"/>
        <a:ext cx="234024" cy="320187"/>
      </dsp:txXfrm>
    </dsp:sp>
    <dsp:sp modelId="{0AEBAE09-12E1-4328-A377-C14500548533}">
      <dsp:nvSpPr>
        <dsp:cNvPr id="0" name=""/>
        <dsp:cNvSpPr/>
      </dsp:nvSpPr>
      <dsp:spPr>
        <a:xfrm>
          <a:off x="9916365" y="2711189"/>
          <a:ext cx="425498" cy="42549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10012102" y="2711189"/>
        <a:ext cx="234024" cy="320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4481D-645F-713B-7B4C-684845EAA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EA5D6-224E-FD8C-43D0-2285AB4C2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2F4AA-0A5D-E08E-C119-A47099DCF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A14FB-3DB5-C292-8001-F5E35DF97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064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E4C0B-C769-CF0B-818D-362A847D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B9687-EB6F-D0F1-2158-183D8FB24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DAF37-211F-7113-94DD-A12BFE09A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EE3D9-A7E9-4191-8AAE-175144451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914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346C-A725-02B3-D157-F59B79F8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145E7-779C-8581-F96F-CA0BFEA63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0BA8C-E227-2278-8994-939213190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21933-4DC7-10E9-0C44-91DA21D86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345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781" y="523771"/>
            <a:ext cx="6571903" cy="3291840"/>
          </a:xfrm>
        </p:spPr>
        <p:txBody>
          <a:bodyPr/>
          <a:lstStyle/>
          <a:p>
            <a:br>
              <a:rPr lang="en-US" sz="4800" dirty="0"/>
            </a:br>
            <a:r>
              <a:rPr lang="en-US" sz="4800" dirty="0"/>
              <a:t>Iowa Liquor Sales — Revenue Performance &amp; Geographic Insights (Power BI Analysis)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27BE4F9B-B819-F4DC-91ED-8DEDB34AF9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8886288"/>
              </p:ext>
            </p:extLst>
          </p:nvPr>
        </p:nvGraphicFramePr>
        <p:xfrm>
          <a:off x="594359" y="2281918"/>
          <a:ext cx="6787747" cy="3708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US" dirty="0"/>
              <a:t>Introduction &amp; 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61F9A1-058E-456E-8A39-BA58EBC2831B}"/>
              </a:ext>
            </a:extLst>
          </p:cNvPr>
          <p:cNvSpPr/>
          <p:nvPr/>
        </p:nvSpPr>
        <p:spPr>
          <a:xfrm>
            <a:off x="594360" y="2763520"/>
            <a:ext cx="3307080" cy="1351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latin typeface="Franklin Gothic Book"/>
              </a:rPr>
              <a:t>Analyze Iowa liquor sales to assess revenue performance and geographic concentration across cities and product categories.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CA41B5-1211-F45F-68A6-4ABB15296718}"/>
              </a:ext>
            </a:extLst>
          </p:cNvPr>
          <p:cNvSpPr/>
          <p:nvPr/>
        </p:nvSpPr>
        <p:spPr>
          <a:xfrm>
            <a:off x="594360" y="4568255"/>
            <a:ext cx="3307080" cy="1351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latin typeface="Franklin Gothic Book"/>
              </a:rPr>
              <a:t>Leverage Power BI to build KPIs and analyze sales patterns across cities, stores, and product categories.</a:t>
            </a:r>
          </a:p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DD7328-7181-B832-63CD-A58A501D1D6A}"/>
              </a:ext>
            </a:extLst>
          </p:cNvPr>
          <p:cNvSpPr/>
          <p:nvPr/>
        </p:nvSpPr>
        <p:spPr>
          <a:xfrm>
            <a:off x="4259982" y="2755499"/>
            <a:ext cx="3307080" cy="1351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latin typeface="Franklin Gothic Book"/>
            </a:endParaRPr>
          </a:p>
          <a:p>
            <a:pPr algn="ctr"/>
            <a:r>
              <a:rPr lang="en-US" sz="1600" dirty="0"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latin typeface="Franklin Gothic Book"/>
              </a:rPr>
              <a:t>Identify top-performing cities and product categories to understand the main drivers of statewide liquor revenue.</a:t>
            </a:r>
          </a:p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AA482A-254E-AA69-72F1-E56DD2CCC3F0}"/>
              </a:ext>
            </a:extLst>
          </p:cNvPr>
          <p:cNvSpPr/>
          <p:nvPr/>
        </p:nvSpPr>
        <p:spPr>
          <a:xfrm>
            <a:off x="4259982" y="4560234"/>
            <a:ext cx="3307080" cy="1351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600" dirty="0">
                <a:solidFill>
                  <a:srgbClr val="FFFFFF">
                    <a:hueOff val="0"/>
                    <a:satOff val="0"/>
                    <a:lumOff val="0"/>
                    <a:alphaOff val="0"/>
                  </a:srgbClr>
                </a:solidFill>
                <a:latin typeface="Franklin Gothic Book"/>
              </a:rPr>
              <a:t>Deliver actionable insights on revenue drivers and geographic concentration to support data-driven commercial decisions.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</p:spPr>
        <p:txBody>
          <a:bodyPr anchor="b">
            <a:normAutofit/>
          </a:bodyPr>
          <a:lstStyle/>
          <a:p>
            <a:r>
              <a:rPr lang="en-US" dirty="0"/>
              <a:t>Data Overview</a:t>
            </a:r>
          </a:p>
        </p:txBody>
      </p:sp>
      <p:graphicFrame>
        <p:nvGraphicFramePr>
          <p:cNvPr id="10" name="Rectangle 1">
            <a:extLst>
              <a:ext uri="{FF2B5EF4-FFF2-40B4-BE49-F238E27FC236}">
                <a16:creationId xmlns:a16="http://schemas.microsoft.com/office/drawing/2014/main" id="{8B7FAB12-965E-AC27-D651-81BF824CA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0348623"/>
              </p:ext>
            </p:extLst>
          </p:nvPr>
        </p:nvGraphicFramePr>
        <p:xfrm>
          <a:off x="594360" y="2628629"/>
          <a:ext cx="10972800" cy="3636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D09C0-C799-3DE9-1FC8-94B9137B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9D4BA9-3C75-5487-B292-4D86EE87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64426"/>
            <a:ext cx="10873740" cy="1680205"/>
          </a:xfrm>
        </p:spPr>
        <p:txBody>
          <a:bodyPr/>
          <a:lstStyle/>
          <a:p>
            <a:pPr lvl="0"/>
            <a:r>
              <a:rPr lang="en-US" dirty="0"/>
              <a:t>Revenue Performance Yearly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9546DF-0B77-B9CE-77A4-28C038FE3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D0E0528-8E8B-CA07-6DA8-DA6FB53E2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F9426A5-859B-6DB3-3FE2-86F2954F0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34D1A2C-7248-B67C-CB42-B60F9011D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0646F68-7D17-2CD3-BED7-CF0BB292A25E}"/>
              </a:ext>
            </a:extLst>
          </p:cNvPr>
          <p:cNvSpPr txBox="1"/>
          <p:nvPr/>
        </p:nvSpPr>
        <p:spPr>
          <a:xfrm>
            <a:off x="1884784" y="2789853"/>
            <a:ext cx="6680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31D5389D-2B13-65EE-E7E9-99AFFEB604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7409933"/>
                  </p:ext>
                </p:extLst>
              </p:nvPr>
            </p:nvGraphicFramePr>
            <p:xfrm>
              <a:off x="522514" y="2034073"/>
              <a:ext cx="10698634" cy="436672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31D5389D-2B13-65EE-E7E9-99AFFEB604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514" y="2034073"/>
                <a:ext cx="10698634" cy="436672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itle 2">
            <a:extLst>
              <a:ext uri="{FF2B5EF4-FFF2-40B4-BE49-F238E27FC236}">
                <a16:creationId xmlns:a16="http://schemas.microsoft.com/office/drawing/2014/main" id="{8C01F577-542F-E1C5-2977-4395530E3D47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2224657" cy="1680205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</a:rPr>
              <a:t>Sales Distribution by Supplier: </a:t>
            </a:r>
          </a:p>
          <a:p>
            <a:r>
              <a:rPr lang="en-US" sz="4000" dirty="0">
                <a:solidFill>
                  <a:schemeClr val="tx1"/>
                </a:solidFill>
              </a:rPr>
              <a:t>Market Share Overview</a:t>
            </a:r>
          </a:p>
        </p:txBody>
      </p:sp>
    </p:spTree>
    <p:extLst>
      <p:ext uri="{BB962C8B-B14F-4D97-AF65-F5344CB8AC3E}">
        <p14:creationId xmlns:p14="http://schemas.microsoft.com/office/powerpoint/2010/main" val="2606791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A12F5-C5C7-28C9-D9B2-6AD32AF63B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4894403"/>
                  </p:ext>
                </p:extLst>
              </p:nvPr>
            </p:nvGraphicFramePr>
            <p:xfrm>
              <a:off x="541176" y="2062065"/>
              <a:ext cx="11038113" cy="460932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1176" y="2062065"/>
                <a:ext cx="11038113" cy="4609323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itle 2">
            <a:extLst>
              <a:ext uri="{FF2B5EF4-FFF2-40B4-BE49-F238E27FC236}">
                <a16:creationId xmlns:a16="http://schemas.microsoft.com/office/drawing/2014/main" id="{D1802158-9652-DCF8-AFBE-20C0719A682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264615" cy="1680205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</a:rPr>
              <a:t>Where Revenue Comes From: </a:t>
            </a:r>
          </a:p>
          <a:p>
            <a:r>
              <a:rPr lang="en-US" sz="4000" dirty="0">
                <a:solidFill>
                  <a:schemeClr val="tx1"/>
                </a:solidFill>
              </a:rPr>
              <a:t>Annual City Performance</a:t>
            </a:r>
          </a:p>
        </p:txBody>
      </p:sp>
    </p:spTree>
    <p:extLst>
      <p:ext uri="{BB962C8B-B14F-4D97-AF65-F5344CB8AC3E}">
        <p14:creationId xmlns:p14="http://schemas.microsoft.com/office/powerpoint/2010/main" val="1223496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E8B88-BFF5-5E69-3CCC-FFD301F3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C03C5B-F33F-0CAB-C2D8-17DCBB50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64426"/>
            <a:ext cx="10873740" cy="1680205"/>
          </a:xfrm>
        </p:spPr>
        <p:txBody>
          <a:bodyPr/>
          <a:lstStyle/>
          <a:p>
            <a:pPr lvl="0"/>
            <a:r>
              <a:rPr lang="en-US" dirty="0"/>
              <a:t>Where Revenue Comes From: Annual City Performance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53AAEE7-7561-6185-813E-ACA606DEA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8DA7203-E95D-D4D6-79CD-4252BE494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8288F98-4378-6E57-984A-98EE9C908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7422DE8-967D-030F-A113-6EF9BA729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7833141"/>
                  </p:ext>
                </p:extLst>
              </p:nvPr>
            </p:nvGraphicFramePr>
            <p:xfrm>
              <a:off x="484177" y="1264960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177" y="1264960"/>
                <a:ext cx="10749976" cy="5335725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itle 2">
            <a:extLst>
              <a:ext uri="{FF2B5EF4-FFF2-40B4-BE49-F238E27FC236}">
                <a16:creationId xmlns:a16="http://schemas.microsoft.com/office/drawing/2014/main" id="{8B65B0E3-0B32-26A7-7CA1-3F7C1B5F9A64}"/>
              </a:ext>
            </a:extLst>
          </p:cNvPr>
          <p:cNvSpPr txBox="1">
            <a:spLocks/>
          </p:cNvSpPr>
          <p:nvPr/>
        </p:nvSpPr>
        <p:spPr>
          <a:xfrm>
            <a:off x="7301" y="0"/>
            <a:ext cx="12257314" cy="1680205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</a:rPr>
              <a:t>Geographic Sales Insights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Annual City Performance</a:t>
            </a:r>
          </a:p>
        </p:txBody>
      </p:sp>
    </p:spTree>
    <p:extLst>
      <p:ext uri="{BB962C8B-B14F-4D97-AF65-F5344CB8AC3E}">
        <p14:creationId xmlns:p14="http://schemas.microsoft.com/office/powerpoint/2010/main" val="3210553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224657" cy="1680205"/>
          </a:xfrm>
          <a:solidFill>
            <a:schemeClr val="accent1"/>
          </a:solidFill>
        </p:spPr>
        <p:txBody>
          <a:bodyPr/>
          <a:lstStyle/>
          <a:p>
            <a:pPr lvl="0"/>
            <a:r>
              <a:rPr lang="en-US" sz="4000" dirty="0">
                <a:solidFill>
                  <a:schemeClr val="tx1"/>
                </a:solidFill>
              </a:rPr>
              <a:t>What Drives Liquor Sales? 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Category &amp; Product Analysis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9DABB5E-9F8A-BCE1-C87D-7A0D08346081}"/>
              </a:ext>
            </a:extLst>
          </p:cNvPr>
          <p:cNvSpPr txBox="1"/>
          <p:nvPr/>
        </p:nvSpPr>
        <p:spPr>
          <a:xfrm>
            <a:off x="1884784" y="2789853"/>
            <a:ext cx="6680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8" name="Add-in" descr="Add-in content for Microsoft Power BI.">
                <a:extLst>
                  <a:ext uri="{FF2B5EF4-FFF2-40B4-BE49-F238E27FC236}">
                    <a16:creationId xmlns:a16="http://schemas.microsoft.com/office/drawing/2014/main" id="{3902B790-2C3B-5AB3-75D5-2A38AE312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2815959"/>
                  </p:ext>
                </p:extLst>
              </p:nvPr>
            </p:nvGraphicFramePr>
            <p:xfrm>
              <a:off x="-1" y="1680204"/>
              <a:ext cx="7595119" cy="517779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18" name="Add-in" descr="Add-in content for Microsoft Power BI.">
                <a:extLst>
                  <a:ext uri="{FF2B5EF4-FFF2-40B4-BE49-F238E27FC236}">
                    <a16:creationId xmlns:a16="http://schemas.microsoft.com/office/drawing/2014/main" id="{3902B790-2C3B-5AB3-75D5-2A38AE312F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" y="1680204"/>
                <a:ext cx="7595119" cy="5177796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82A4EB75-92A5-0D31-8D93-3AD3B254A0ED}"/>
              </a:ext>
            </a:extLst>
          </p:cNvPr>
          <p:cNvSpPr txBox="1"/>
          <p:nvPr/>
        </p:nvSpPr>
        <p:spPr>
          <a:xfrm>
            <a:off x="8123250" y="1782146"/>
            <a:ext cx="41894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American Vodkas and Canadian Whiskies dominate total revenue, driven by a small number of high-performing products.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Sales concentration is high: a few top brands account for a disproportionate share of category performance, highlighting strong winner-takes-most dynamics.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AA8475FF-4067-75BD-80BD-CB51F485D7FF}"/>
              </a:ext>
            </a:extLst>
          </p:cNvPr>
          <p:cNvSpPr/>
          <p:nvPr/>
        </p:nvSpPr>
        <p:spPr>
          <a:xfrm>
            <a:off x="7708642" y="4338732"/>
            <a:ext cx="4189445" cy="1704631"/>
          </a:xfrm>
          <a:prstGeom prst="flowChartAlternateProcess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Premium and flagship products </a:t>
            </a:r>
            <a:r>
              <a:rPr lang="en-US" dirty="0"/>
              <a:t>appear to anchor category performance, while secondary SKUs mainly provide incremental volume.</a:t>
            </a:r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4FC63B34-2BBA-0F90-1074-3D31247045E4}"/>
              </a:ext>
            </a:extLst>
          </p:cNvPr>
          <p:cNvSpPr/>
          <p:nvPr/>
        </p:nvSpPr>
        <p:spPr>
          <a:xfrm>
            <a:off x="7708642" y="2352747"/>
            <a:ext cx="4189445" cy="1704631"/>
          </a:xfrm>
          <a:prstGeom prst="flowChartAlternateProcess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Revenue is highly concentrated:</a:t>
            </a:r>
            <a:r>
              <a:rPr lang="en-US" dirty="0"/>
              <a:t> top brands capture a large share of category sales, indicating strong dominance by a limited set of players.</a:t>
            </a: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Main Take Aways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8F5F8B6F-B60F-DD04-39EE-266743DD8849}"/>
              </a:ext>
            </a:extLst>
          </p:cNvPr>
          <p:cNvSpPr/>
          <p:nvPr/>
        </p:nvSpPr>
        <p:spPr>
          <a:xfrm>
            <a:off x="6096000" y="2477154"/>
            <a:ext cx="4189445" cy="1704631"/>
          </a:xfrm>
          <a:prstGeom prst="flowChartAlternateProcess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Category performance is uneven, as vodka and whiskey segments outperform other product groups.</a:t>
            </a:r>
          </a:p>
          <a:p>
            <a:pPr algn="ctr"/>
            <a:endParaRPr lang="en-US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CE49F41-48CD-D415-23E2-8E2390CD0D6B}"/>
              </a:ext>
            </a:extLst>
          </p:cNvPr>
          <p:cNvSpPr/>
          <p:nvPr/>
        </p:nvSpPr>
        <p:spPr>
          <a:xfrm>
            <a:off x="732454" y="2477155"/>
            <a:ext cx="4189445" cy="1704631"/>
          </a:xfrm>
          <a:prstGeom prst="flowChartAlternateProcess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are concentrated across a small set of cities, with top urban areas driving the majority of total revenue.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7A1985EE-9F13-EBBC-05E7-7688B20FB9BE}"/>
              </a:ext>
            </a:extLst>
          </p:cNvPr>
          <p:cNvSpPr/>
          <p:nvPr/>
        </p:nvSpPr>
        <p:spPr>
          <a:xfrm>
            <a:off x="6095999" y="4697841"/>
            <a:ext cx="4189445" cy="1704631"/>
          </a:xfrm>
          <a:prstGeom prst="flowChartAlternateProcess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Geographic demand varies significantly, highlighting opportunities for targeted regional strategies and optimization.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48760E38-75C2-CD23-AE96-A3B6885A2D79}"/>
              </a:ext>
            </a:extLst>
          </p:cNvPr>
          <p:cNvSpPr/>
          <p:nvPr/>
        </p:nvSpPr>
        <p:spPr>
          <a:xfrm>
            <a:off x="732454" y="4697841"/>
            <a:ext cx="4189445" cy="1704631"/>
          </a:xfrm>
          <a:prstGeom prst="flowChartAlternateProcess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A limited number of brands dominate sales, while the remaining portfolio contributes marginal incremental value.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B70C1-9433-BA2A-4CDB-656161E1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7B08-5929-CCA9-DBB2-18FE52547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48718"/>
            <a:ext cx="9778365" cy="1494596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dirty="0">
                <a:latin typeface="Arial" panose="020B0604020202020204" pitchFamily="34" charset="0"/>
              </a:rPr>
            </a:br>
            <a:br>
              <a:rPr lang="en-US" altLang="en-US" dirty="0">
                <a:latin typeface="Arial" panose="020B0604020202020204" pitchFamily="34" charset="0"/>
              </a:rPr>
            </a:br>
            <a:br>
              <a:rPr lang="en-US" altLang="en-US" dirty="0">
                <a:latin typeface="Arial" panose="020B0604020202020204" pitchFamily="34" charset="0"/>
              </a:rPr>
            </a:br>
            <a:br>
              <a:rPr lang="en-US" altLang="en-US" dirty="0">
                <a:latin typeface="Arial" panose="020B0604020202020204" pitchFamily="34" charset="0"/>
              </a:rPr>
            </a:br>
            <a:br>
              <a:rPr lang="en-US" altLang="en-US" dirty="0">
                <a:latin typeface="Arial" panose="020B0604020202020204" pitchFamily="34" charset="0"/>
              </a:rPr>
            </a:b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Dashboard Impact Overview</a:t>
            </a:r>
            <a:endParaRPr lang="en-US" altLang="en-US" b="0" dirty="0">
              <a:latin typeface="Arial" panose="020B0604020202020204" pitchFamily="34" charset="0"/>
            </a:endParaRP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4D1FB21E-CCFB-8E64-064C-DB8195F868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48415"/>
              </p:ext>
            </p:extLst>
          </p:nvPr>
        </p:nvGraphicFramePr>
        <p:xfrm>
          <a:off x="600460" y="2992794"/>
          <a:ext cx="10991080" cy="297344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4777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j-lt"/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j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j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+mj-lt"/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 of records processed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Dashboard 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user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Insight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business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Geographic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cities analyzed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50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Andrea Antonuzzo</a:t>
            </a:r>
          </a:p>
          <a:p>
            <a:r>
              <a:rPr lang="en-US" dirty="0"/>
              <a:t>+1 201-241-6048</a:t>
            </a:r>
          </a:p>
          <a:p>
            <a:r>
              <a:rPr lang="en-US" dirty="0"/>
              <a:t>aantonuz@stevens.edu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463B168-CED4-4B39-9D63-BFDFAB0AF73B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91VUU/bMBD+K5VfAClCaZtQ4K0rHaoGrGo2XqYKHfE1GJw4s51CqfLfd3YaKGJMe6q0RYoU313uvrvvu2TNuDClhNUV5MhO2SelHnLQD50uC1jR2Lp9DOPFSQ9hABzCqBfBgLyqtEIVhp2umQWdob0WpgLpEpHxxzxgIOUUMndagDQYsBK1UQVI8YxNMLmsrrAOGD6VUmlwKRMLFl3aJYXT2UE47FNFSK1YYoKpbayDNB70gfe7JxAfxWF0EoecwkwT4JH9NsSl9uVHqrAgCirjbCG/TY85xoMI8TgOQ4ii0NkXQtpNyO1q/FRq6o56XpVuOCPCmiktUpDMd6HRNKDXbKRklfun8Rt7oiqd4gwX3lVYYVeUaaIe4eZC/KyUvklAornphb2jsNuLWE0DmmpF4/OR11hwpTueMue6U48jjQSEWgvr4AXbkC+hSJG/AzbMMo0Z2M1xvBvULi92EiV5Z/+ctEEUHfigz1WxoTT8d9px3s7+mZIS9N/0MSeLEUUmN9J/VeG3pj2rEXMo3Wbd3pOEneDqVvRU+H5L1udaVaWX4W40Nvf9iOxO0m1dSoOy3UNCwcHCJWEnx8clDrdzurdMSuUmvGEpL0EL03LWnr6Iwk0vYBe4sLvcqVnb6IWg5W/ougZZOab2puPZ1dezzmwyGs7OOt+T4R69U9ee4xwtuHFQhyyp8v0/zOOthA7YvKaPZvO1eW3u8iXfekv2ZpfkByyF9A65739iMW+qC44utUDzn7IZsKWL2Qib/gXsXWizG+7aXlsSAf0Q3YOqrCkhxSkUjebLBqQfmicUCo68JfcDiP732UqMrl9uxhQYtgcAAA==&quot;"/>
    <we:property name="creatorSessionId" value="&quot;79000837-2287-4760-a0fe-68b74285ffcc&quot;"/>
    <we:property name="creatorTenantId" value="&quot;8d1a69ec-03b5-4345-ae21-dad112f5fb4f&quot;"/>
    <we:property name="creatorUserId" value="&quot;10032004AC3AE3DF&quot;"/>
    <we:property name="datasetId" value="&quot;4e35c66b-230e-43ac-920e-4dc1cc232de9&quot;"/>
    <we:property name="embedUrl" value="&quot;/reportEmbed?reportId=3207570a-8e4d-44a0-a056-d0fff35d92d9&amp;config=eyJjbHVzdGVyVXJsIjoiaHR0cHM6Ly9XQUJJLVVTLU5PUlRILUNFTlRSQUwtSC1QUklNQVJZLXJlZGlyZWN0LmFuYWx5c2lzLndpbmRvd3MubmV0IiwiZW1iZWRGZWF0dXJlcyI6eyJ1c2FnZU1ldHJpY3NWTmV4dCI6dHJ1ZX19&amp;disableSensitivityBanner=true&amp;storytellingChangeViewModeShortcutKeys=true&quot;"/>
    <we:property name="initialStateBookmark" value="&quot;H4sIAAAAAAAAA9VTTW/bMAz9K4ZOHWAMTmI3bW9ZlhVDv4J6yGUIAsZiPLWKpMlS2jTwfx8le22H7dBTgfliiXwg3yOfDoyLxkjYX8MW2Rn7pPX9Fux9MmApU33s5ubianJ7sbqeXM0orI0TWjXs7MAc2BrdQjQeZKhAwe/LlIGUc6jDbQOywZQZtI1WIMUTdmBKOeuxTRk+GqkthJKlA4eh7I7gdKfeg48j6giVEzsssXJddFwV4xHw0eAUiuMiy0+LjBOs6QCR2T8hoXRsP9XKgVDUJsQyvq5OOBbjHPGkyDLI8yzEN0K6HrLezx6NJXWkeW/CVKbEtdZWVCBZVGGx6Ugf2FRLv42n2R/xUntb4S1uYko54fZU6at+gNWl+Om1XZUgsVkNs+FxNhjmrKUBza2m8UXkAhXXNom7Cqkf+mFqkYiQtKxNn7lN+A5UhfwvYpO6tliD66+z92Ed6mJSasmTo3PyBq3oQwR98apfafb/yAnZ5OizlhLsW3QsKdIIVcve+i8u/NbJcxZxCya8rPUdWTgYrv1temp898rW51Z7E234Ph5btvF7TY1tkR59OGjvGgMVzkFh5GS6MgIjjnYFiiPvzzb8LwW9qG4GC5C+k+9DJ+pBUxFriW/E9+R+AReSCQjCBAAA&quot;"/>
    <we:property name="isFiltersActionButtonVisible" value="true"/>
    <we:property name="isVisualContainerHeaderHidden" value="false"/>
    <we:property name="pageDisplayName" value="&quot;Sales x Vendor&quot;"/>
    <we:property name="pageName" value="&quot;7c573ad319a56504950d&quot;"/>
    <we:property name="reportEmbeddedTime" value="&quot;2026-01-25T15:40:44.113Z&quot;"/>
    <we:property name="reportName" value="&quot;IOWA Alchool&quot;"/>
    <we:property name="reportState" value="&quot;CONNECTED&quot;"/>
    <we:property name="reportUrl" value="&quot;/groups/me/reports/3207570a-8e4d-44a0-a056-d0fff35d92d9/7c573ad319a56504950d?bookmarkGuid=48aa5470-64ea-4a64-a636-4a49ca3ff359&amp;bookmarkUsage=1&amp;ctid=8d1a69ec-03b5-4345-ae21-dad112f5fb4f&amp;fromEntryPoint=expor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2792594-5b3b-42c5-96fc-1ac414418f94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X32/bNhD+VwK+dAOUQZJt2clb4yxYMKPL6iJFMQTBmTzLbGlRJam0XqD/fUdKchLHTtKk60v9JB6P9+Pj3Xf0NRPSlgpWb2CJ7JAdaf1pCebTXsIiVjSykegnPIO4nybDXsr5kPcz2tWlk7qw7PCaOTA5unNpK1DeEAn/uYgYKHUGuV/NQVmMWInG6gKU/BcbZdpypsI6Yvi1VNqANzl14NCbvSJ1WlMIyW898gjcySucIneNNBUDSIfDjPNeMhilsRjGB6RmG4UQ2VYVbzq4H+vCgSzIjZdls94o6Y/EAYxmXCR8wEeZl8+lcq3KbPX719JQdpTzqvTgvNPlG/LZ6HiV8y7oNGInRi+DcouurWafKzQrOuDtoG00r9m026Dvv7uPhyxJb6Jw0pEmO9Vf4HIiP1faXE5Bob1M4zSLk7RPWu9CnHFN9zFFRdAEM2OtqmVwvRGIrgzHtzi/WQRvNV3RmdF0gcHj2DsmURvNXKISzLv4ywg0R6vg41ia7qrSzYRf57nBHFy7vLv5wuA8BHu/HGulwNhfw+5JVbSRxHXt46RrY4fJoPabDUJpHb0M3fcLNNiCWwjZpXa6kYj9fviHRGCmcPfJdcXV/nfRNNq3Qv0UKLYHGLGF/jI2SA0tPEzRum9eiysoOEk3I3p5ZTwj3MdKZjMPD6SVRa5aHruhlKYgGFeVJUJAcQRmvADjPGHOPlI/eB6h0/qHNcr/AIcvvIaM6dDHW3Q7JoBybVZPr/Hn19ZFaN7+QZwN4izGGHoDWsSYJI+S9s7i+0OiAcMXqwleobof+nr//lYX4DkY2Yyxtge/S/otMa2NszuIHPuB6dVuxReEezcCv91mxT4gmC3d+WhVWyU5TbnbpcyWSLPff+RIg9QfIpzLJjaJ9uYu7n49NNzUbfqdaA7K5xKY7nLED1BAb7bfnw2z/b7IRvuQ9NJ9Pk8hQ96HeTr/YbysNkuzBZa8noOqwjuIjE6ka5C5bsT+6RKn6cRrXtRNJfszAhxsgW+pRQAYQxVvNffqCKzkr1qW908g1THKPXPWGcndNNxz9yJ40Hh4vHUDZDd1JZvU9XM1005OXFfCz4aIpxMOfIHiJLT9cfNP49ThsoFDilCPnBydimaeLUsKwXbTrVv9KQtPUN7D3H374HsOhWxv7Ii9lfnC7WiUrqnDYLr7v8pvsabR6+30qStnS+B4BgVu6VrqTygEiqf2auSZW7ZvwwcO+L9f696u6/8AJTBk2xAOAAA=&quot;"/>
    <we:property name="creatorSessionId" value="&quot;d5051133-2727-4e51-a898-14f289f99506&quot;"/>
    <we:property name="creatorTenantId" value="&quot;8d1a69ec-03b5-4345-ae21-dad112f5fb4f&quot;"/>
    <we:property name="creatorUserId" value="&quot;10032004AC3AE3DF&quot;"/>
    <we:property name="datasetId" value="&quot;4e35c66b-230e-43ac-920e-4dc1cc232de9&quot;"/>
    <we:property name="embedUrl" value="&quot;/reportEmbed?reportId=3207570a-8e4d-44a0-a056-d0fff35d92d9&amp;config=eyJjbHVzdGVyVXJsIjoiaHR0cHM6Ly9XQUJJLVVTLU5PUlRILUNFTlRSQUwtSC1QUklNQVJZLXJlZGlyZWN0LmFuYWx5c2lzLndpbmRvd3MubmV0IiwiZW1iZWRGZWF0dXJlcyI6eyJ1c2FnZU1ldHJpY3NWTmV4dCI6dHJ1ZX19&amp;disableSensitivityBanner=true&amp;storytellingChangeViewModeShortcutKeys=true&quot;"/>
    <we:property name="initialStateBookmark" value="&quot;H4sIAAAAAAAAA+VX308bORD+V5BfeieF0+4mWQJvEIoOkQJHKqrTCUUTe5K4ddZb20ubov3fO/buBggJUOj1pXlaj8fz4/PMN84NE9LmChanMEe2xw60/jQH82krZi2W1bKzs5N3+xcno9P9d29JrHMndWbZ3g1zYKboLqUtQHkLJPzvqsVAqXOY+tUElMUWy9FYnYGS37BSpi1nCixbDL/mShvwJocOHHqz16ROa/Id/9Umj8CdvMYhcldJE9GFZGcn5bwdd3tJJHaiXVKzlUKIbK2KNx3c93XmQGbkxsvScbsXd3piF3pjLmLe5b3UyydSuVplvHj7NTeUHeW8yD0q73V+Sj4rHa9y2QSdtNiR0fOgXMNqi/HnAs2CDng7aCvNGzZsNuj7n+bjMUvSm8icdKTJjvUXGA3k50Kb0RAU2lESJWkUJx3Seh/ijEq6jyEqgiaY6WtVzIPrlUB0YThe4OR2EbyVdEXnRtMFBo9975hEdTQTiUow7+LMCDQHi+DjUJrmqpLVhPenU4NTcPXy/uYrg/MQbP1xqJUCY/8Mu0dFVkcSlaWPk66N7cXd0m9WCCVl63XofpihwRrcTMgmteOVROzPwz8kAmOFm08uK670v6uq0X4U6udAsT7AFpvpL32D1NDCw9Ra9s2+uIaMk3Q1otdXxgvCfapkVvPwQFqZTVXNY7eUUhUE46qwRAgoDsD0Z2CcJ8zxR+oHzyN0Wv+yRvkf4PCFV5ExHfp4h277BNBUm8Xza/zltXUVmrezG6XdKI0wgnaXFhHG8ZOkvbH4/pZowPDZYoDXqB6Gvtx/uNUEeAlGVmOs7sGfkn5NTEvj7B4ih35gerU78QXh1q3Ab9dZsX8RzJrufLKqrZKcptzdUmZzpNnvP6ZIg9QfIpzzKjaJ9vYu7n89NtzUXfodaA7K5xKYbtTjuyigPd7ujHfS7Y5Ie9sQt5NtPkkgRd6BSTL5ZbysVkuzBpa8XoIqwjuIjA6kq5C5qcT+6RIlycBrXpVVJfszAhysgW+uRQAYQxWvNffmAKzkb2qW908g1TDKA3PWGcndMNxz8yJ41Hh4vDUDZDN1xavU9Xs100ZOXFbC74aIpxMOfIbiKLT9YfUX49jhvIJDilCPnBwdi2qezXMKwTbTrVmdyMwTlPcwcT8++F5CIesbu8Uu5HTmNjRK09RhMN3/Q+W3WNXo5Xr61IWzOXA8hwzXdC31J2QCxRO96v9NseCDiFvWT8Nn6Nck9B394hm1CA4AAA==&quot;"/>
    <we:property name="isFiltersActionButtonVisible" value="true"/>
    <we:property name="isVisualContainerHeaderHidden" value="false"/>
    <we:property name="pageDisplayName" value="&quot;Top 15 Cities by Sales&quot;"/>
    <we:property name="pageName" value="&quot;2d5a2776cc315820d709&quot;"/>
    <we:property name="reportEmbeddedTime" value="&quot;2026-01-25T15:46:12.793Z&quot;"/>
    <we:property name="reportName" value="&quot;IOWA Alchool&quot;"/>
    <we:property name="reportState" value="&quot;CONNECTED&quot;"/>
    <we:property name="reportUrl" value="&quot;/groups/me/reports/3207570a-8e4d-44a0-a056-d0fff35d92d9/2d5a2776cc315820d709?bookmarkGuid=73af8728-9102-497c-a266-46eca6d2e173&amp;bookmarkUsage=1&amp;ctid=8d1a69ec-03b5-4345-ae21-dad112f5fb4f&amp;fromEntryPoint=export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75aa5ca-b457-44ac-be23-f016a888f07d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WUW/aMBD+K5FftkloSkIhbd9aoBsS7SpgTNWEqktypG5NnDkOLUX8953jQNsBow9b9zAhpOTufHff5+/sLFjM80zA/AKmyI7ZqZR3U1B3jsdqLLW2CNwgaoShW4/iJmKMgeuSV2aayzRnxwumQSWoRzwvQJhEZPw+rjEQ4hIS8zYBkWONZahymYLgj2iDyaVVgcsaw4dMSAUm5UCDRpN2RuH0Ti14H+tUESLNZzjASFsrHERe4E3C0HebR17o1eO6aTu3AWVnW0NM6rJ8S6YaeEpljI0iGtCI6ReEjaDpHgaNprFPuNBVSDjvPGSK0BHmeWbIOYlnkEYYsxKCwtx2vGCfOSpQ0c28hzMUxtLZ7t90XSpJTOn5CBS3jMhCRbgZaO19nJSuVHNN2VhX3sN1j/8opLoegMD82nf9puv5B2xJTFc7vU5Ona8KkrltuDdhz/orjc6TwbgrVOwKQZWGG3nfUkiBMTt2l7U1QS0yJVLxCMQGRy0pimn6h3A9A9GTkYX2u8Z27txJkihMbIKN1v5Wy8brvG9LIUDlH0rvWZFWSnc3cYzJkvM0EdUkPYl6aOHBY6HwHDIzqeEtjYQRMC2SKkZ1Oi813OZqNUxebZc+/wv9Lser44Vy3T47QCr5Wr7eQK/jpfEFh3QY+a5bPzr0DxpuM2j48d6j6F9MWlfj1GljHime7Zi4vUrNBY9QvdApmyLdKOYhQTqezSLCmdm6HPMnLl4+jVY3hk/jo+S0XFYJhlOF1yCsMduXazTx7QYVVnufxnx1JnR/oTJ/vTxWs0D97OeSOhiBKMoLlQr0uLZkLKyZFr3zgrrT6p+cDZ12dzDs9nqd/pUz+tL7et4Z9rst51P34p3JZIRl/iZnDBq2MDqVcck5lsLaXu4Uch6ZhDbdjqlZN/2myivhmbBtQpKFzjOI8BJS3IKdMEMaY7wHf/khw8oipGEein2Emc+bNVvL5U+Ax9hVcAkAAA==&quot;"/>
    <we:property name="creatorSessionId" value="&quot;733a4289-f1e3-4ab4-8a2e-10690384fbf7&quot;"/>
    <we:property name="creatorTenantId" value="&quot;8d1a69ec-03b5-4345-ae21-dad112f5fb4f&quot;"/>
    <we:property name="creatorUserId" value="&quot;10032004AC3AE3DF&quot;"/>
    <we:property name="datasetId" value="&quot;4e35c66b-230e-43ac-920e-4dc1cc232de9&quot;"/>
    <we:property name="embedUrl" value="&quot;/reportEmbed?reportId=3207570a-8e4d-44a0-a056-d0fff35d92d9&amp;config=eyJjbHVzdGVyVXJsIjoiaHR0cHM6Ly9XQUJJLVVTLU5PUlRILUNFTlRSQUwtSC1QUklNQVJZLXJlZGlyZWN0LmFuYWx5c2lzLndpbmRvd3MubmV0IiwiZW1iZWRGZWF0dXJlcyI6eyJ1c2FnZU1ldHJpY3NWTmV4dCI6dHJ1ZX19&amp;disableSensitivityBanner=true&amp;storytellingChangeViewModeShortcutKeys=true&quot;"/>
    <we:property name="initialStateBookmark" value="&quot;H4sIAAAAAAAAA+VWXW/aQBD8K+he0kpWZZsASd4IJGoUUlDSUlUVQou9OJecfe7dmYQg/nv3fCYfBUoe2vShiiLB7N7uznj2zILFXOcC5p8gRXbEjqW8TUHd1gLmsazC+v3zi/bl+fhT++KEYJkbLjPNjhbMgErQDLkuQNgKBH4feQyEGEBiv01BaPRYjkrLDAR/QJdMIaMKXHoM73MhFdiSVwYM2rIzSqfv1Dv4UKeOEBk+wyuMjENhPwpawXQyCf3mYTAJ6nHdzqtdQjnZxhRbumzfkZkBnlEbi1FGAxox/bUmjVbTP2g1mhafcmGqlMn85D5XxI44z3OrSjueQRZhzEoKCrWbeME+clSgout5D2coLHKyOb4eGihJSpn5EBR3ishCRbie6PBLnJahzHBD1diZvINxj/8opBpfgUA9Dv2w6QfhPluS0tUjfixOk68aEty12tu0Z/OVYO0JsOGKFfuGoErgWt51FFJizI78pfcoUIegRCoegVjTqCNFkWZ/iNczEj0ZOWq/G2zrk2snicLEFVgb7W+NbKO1d10pBCj9voyeFlnldH+dx4gQzbNEVJv0ZOrPjh48FAovILebOrmhlbAGpkNSxaiO56WHu1ytlinwtvnzv/DvcrS6XqjWzbMLpLKv0+sN/Dpa2ljrgC6j0PfrhwfhfsNvthphvPMq+hebdmYwrXVRR4rnWzZup1O14BGqFz5lKdIbxX5IkK5ne4h45q4vR/2kxctPw9UbI6T1UTItj1WG4dThNQw95ubyrSe+XqPC6tlnMV/dCWe/SKlfb4/VLtA8u7WkCYYgivKFSg163DgxFg6mQ3tB6zCsnX7p9WqDy37/dM+esiay//Z8DAY2qJfKuNQXSxNtLn0Mmke2oCu3ZUMeB3xTl5X0bNom08jC6BwiHECGG7gTZ8hijHfwt79MWNmD7MonYpdeq/xquJ99074iVAkAAA==&quot;"/>
    <we:property name="isFiltersActionButtonVisible" value="true"/>
    <we:property name="isVisualContainerHeaderHidden" value="false"/>
    <we:property name="pageDisplayName" value="&quot;Sales Map per store&quot;"/>
    <we:property name="pageName" value="&quot;a4c171fbb20691b13d31&quot;"/>
    <we:property name="reportEmbeddedTime" value="&quot;2026-01-25T15:44:27.954Z&quot;"/>
    <we:property name="reportName" value="&quot;IOWA Alchool&quot;"/>
    <we:property name="reportState" value="&quot;CONNECTED&quot;"/>
    <we:property name="reportUrl" value="&quot;/groups/me/reports/3207570a-8e4d-44a0-a056-d0fff35d92d9/a4c171fbb20691b13d31?bookmarkGuid=ac006054-ea9e-4d0f-8338-456a75ca162c&amp;bookmarkUsage=1&amp;ctid=8d1a69ec-03b5-4345-ae21-dad112f5fb4f&amp;fromEntryPoint=export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5D6BC95C-288C-4862-A9DE-072F0D399481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81VUU/bMBD+K5Vf2KQIJSmlC2+lZRKCsYpWfZmq6ppcg8G1g+0UMsR/39lJGIUi7WUVeWl8/nr3fZfv7CeWcVMIqK5gjeyEnSp1twZ914lYwGQd6/d7yREue9006YVJBtiPEtpVheVKGnbyxCzoHO2MmxKES0TBX/OAgRBjyN1qBcJgwArURkkQ/DfWYNqyusTngOFjIZQGl3JiwaJLuyE4rYlCdNilipBavsEJpraOrrohrqLjsJtFvaQXfwsTyAhmaoBnthPiUvvyQyUtcEllXAyjEOKjuLdcJvSQSIL7HFzYBrKszh4LTepIc1W45gyyDcgUXV2SoNHUjJ/YIM815mCb5dnW5lCJcr0jPlGlTvEaV35LWm4rqnGuHmBxye9LpRcTEGgWcRgfh1F8xJ6pdWOtqLEe6XY7X0ZKCNDmq9/9XsqmX6Fb3qiHoUZqcOYCwYuOIYVypXkK4p2U/8W2qVl1vPk+G7tzi+vOCE2quXf6DoJzihguc9HY+a+zpjXvDFO1LpThLsFUY4uj6Vnekk2dqSiH0hnq08r7asR1a/A4eCPpU3rqed5OJv3p9tXsEQ1B09Xo2puJ9uqIeX10gTTtwWW8Wq2Ef3vVBGqTwA2KGnBfoq6Iigd9TOFwWx7l4GboPkVhnAXd4UmhDL2YC6zMXnvt6Yy5lC0X1/1/Vfaumx+I2y5AIK2UdQJa2TMQpWu2LIUIWHrDRaZR+ka8hVDoktNhXo+qj5Ksg8GPs+vz4eCqM/s5uhhMDlppU5XTbL+Udp/bPa+nl62R7j73okprCkhxDBJ9paJuHMf6dnEuyTBr3rX73cHF35TMl/HF/gDGGm+foQcAAA==&quot;"/>
    <we:property name="creatorSessionId" value="&quot;8ccdae1a-9c7f-440f-b1b7-520a98b0482c&quot;"/>
    <we:property name="creatorTenantId" value="&quot;8d1a69ec-03b5-4345-ae21-dad112f5fb4f&quot;"/>
    <we:property name="creatorUserId" value="&quot;10032004AC3AE3DF&quot;"/>
    <we:property name="datasetId" value="&quot;4e35c66b-230e-43ac-920e-4dc1cc232de9&quot;"/>
    <we:property name="embedUrl" value="&quot;/reportEmbed?reportId=3207570a-8e4d-44a0-a056-d0fff35d92d9&amp;config=eyJjbHVzdGVyVXJsIjoiaHR0cHM6Ly9XQUJJLVVTLU5PUlRILUNFTlRSQUwtSC1QUklNQVJZLXJlZGlyZWN0LmFuYWx5c2lzLndpbmRvd3MubmV0IiwiZW1iZWRGZWF0dXJlcyI6eyJ1c2FnZU1ldHJpY3NWTmV4dCI6dHJ1ZX19&amp;disableSensitivityBanner=true&amp;storytellingChangeViewModeShortcutKeys=true&quot;"/>
    <we:property name="initialStateBookmark" value="&quot;H4sIAAAAAAAAA81Vy27bMBD8FYNAkRYQAkl5tM5Nsd0iyMuN3VwKw6CltcKEJhWScqIa+ffuUlKahwPkUiO6mFyOd3dGs9SKZcIWkldnfAHsgB1qfbPg5qYTsYCpJnZ+fnyaXBxPz5LTAYZ14YRWlh2smOMmB3cpbMklZcDg70nAuJRDntNuzqWFgBVgrFZcij9Qg/HImRIeAgb3hdSGU8qR4w4o7RLhuMfa0fYOVuSpE0sYQerq6HwnhHm0H+5k0V53L/4WdnmGMFsDfGdrIZTal+9p5bhQWIZiEIU83o33ZrMuPl+jLsJ9DiFdA5lVg/vCIDvkXBWkSpItuUqB6iIFA7bueMWSPDeQc9dsB88Oe1qWizXxkS5NChcw90fKCVdhjSN9x6cn4rbUZjriEuw0DuP9MIp32QNKNzQahfVIOu187mspubFf/On3UjV6hbS90nc9AyhwRoHgkUcPQ7k2IuXyFZX/1W1Ts+p413207o4cLDp9sKkR3ulrGpxgxAqVy8bO/5w1rvvOINWLQltBCcYGWhxOz+wabUqmwhzaZGAOK++rvjCtwePgBaUP6amHSTuZ+KfrJ7OHbUicrobXxky0UUdM6quLK9teXNazNVr61RMRUCYJS5A14LYEU2ErHvR2C9vP6WEOYXv0KgpLFqTLE0MZeDLHUNmNau3bGQql2l5I/fcye6XmG+SeF0CQ0doRgZb2JZclia1KKQOWXgmZGVBeiJcQDJ0IvMzrUfVRpLUVheGnTvIjuRx0xoOfv45Okq2W3VjnON6P1emN0/N0gNkC8PNHC106W/AUhlyBL1bU2gmoPzBklAyyZm3od007VIn5GniXiJmEd+Kb3v4CfytuAcwHAAA=&quot;"/>
    <we:property name="isFiltersActionButtonVisible" value="true"/>
    <we:property name="isVisualContainerHeaderHidden" value="false"/>
    <we:property name="pageDisplayName" value="&quot;Decomposition Tree x Category product&quot;"/>
    <we:property name="pageName" value="&quot;f30ef1603d15952809ad&quot;"/>
    <we:property name="reportEmbeddedTime" value="&quot;2026-01-25T15:36:28.402Z&quot;"/>
    <we:property name="reportName" value="&quot;IOWA Alchool&quot;"/>
    <we:property name="reportState" value="&quot;CONNECTED&quot;"/>
    <we:property name="reportUrl" value="&quot;/groups/me/reports/3207570a-8e4d-44a0-a056-d0fff35d92d9/f30ef1603d15952809ad?bookmarkGuid=a518af2d-e1bf-4758-937b-6d38dcc82546&amp;bookmarkUsage=1&amp;ctid=8d1a69ec-03b5-4345-ae21-dad112f5fb4f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97df0f-1807-457a-a458-79295021d9f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C2F57474BB3740A4A520D6D1A23A2C" ma:contentTypeVersion="5" ma:contentTypeDescription="Create a new document." ma:contentTypeScope="" ma:versionID="aa3d28c55761c55e235ca9b30a272a26">
  <xsd:schema xmlns:xsd="http://www.w3.org/2001/XMLSchema" xmlns:xs="http://www.w3.org/2001/XMLSchema" xmlns:p="http://schemas.microsoft.com/office/2006/metadata/properties" xmlns:ns3="7697df0f-1807-457a-a458-79295021d9ff" targetNamespace="http://schemas.microsoft.com/office/2006/metadata/properties" ma:root="true" ma:fieldsID="8d8bbeb50471e2cab9af9b072ca2404f" ns3:_="">
    <xsd:import namespace="7697df0f-1807-457a-a458-79295021d9f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97df0f-1807-457a-a458-79295021d9f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purl.org/dc/dcmitype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7697df0f-1807-457a-a458-79295021d9ff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C44C22-7BD0-4BF8-958C-0EFA94B8C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97df0f-1807-457a-a458-79295021d9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{6BB5425E-C869-48BF-9D98-47CFB0CA6E57}TFd3b75063-ff25-434d-b12c-efeaf07d16c3292f62b5_win32-75a75c970d8e</Template>
  <TotalTime>89</TotalTime>
  <Words>430</Words>
  <Application>Microsoft Office PowerPoint</Application>
  <PresentationFormat>Widescreen</PresentationFormat>
  <Paragraphs>74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Franklin Gothic Book</vt:lpstr>
      <vt:lpstr>Franklin Gothic Demi</vt:lpstr>
      <vt:lpstr>Custom</vt:lpstr>
      <vt:lpstr> Iowa Liquor Sales — Revenue Performance &amp; Geographic Insights (Power BI Analysis)</vt:lpstr>
      <vt:lpstr>Agenda</vt:lpstr>
      <vt:lpstr>Introduction &amp; Objectives</vt:lpstr>
      <vt:lpstr>Data Overview</vt:lpstr>
      <vt:lpstr>Revenue Performance Yearly</vt:lpstr>
      <vt:lpstr>PowerPoint Presentation</vt:lpstr>
      <vt:lpstr>Where Revenue Comes From: Annual City Performance</vt:lpstr>
      <vt:lpstr>What Drives Liquor Sales?  Category &amp; Product Analysis</vt:lpstr>
      <vt:lpstr>Main Take Aways</vt:lpstr>
      <vt:lpstr>      Dashboard Impact Overview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Antonuzzo</dc:creator>
  <cp:lastModifiedBy>andrea antonuzzo</cp:lastModifiedBy>
  <cp:revision>3</cp:revision>
  <dcterms:created xsi:type="dcterms:W3CDTF">2026-01-24T23:33:29Z</dcterms:created>
  <dcterms:modified xsi:type="dcterms:W3CDTF">2026-01-25T16:56:08Z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0x0101002EC2F57474BB3740A4A520D6D1A23A2C</vt:lpwstr>
  </property>
  <property fmtid="{D5CDD505-2E9C-101B-9397-08002B2CF9AE}" pid="3" name="MSIP_Label_a73fd474-4f3c-44ed-88fb-5cc4bd2471bf_Enabled">
    <vt:lpwstr>true</vt:lpwstr>
  </property>
  <property fmtid="{D5CDD505-2E9C-101B-9397-08002B2CF9AE}" pid="4" name="MSIP_Label_a73fd474-4f3c-44ed-88fb-5cc4bd2471bf_SetDate">
    <vt:lpwstr>2026-01-25T15:26:42Z</vt:lpwstr>
  </property>
  <property fmtid="{D5CDD505-2E9C-101B-9397-08002B2CF9AE}" pid="5" name="MSIP_Label_a73fd474-4f3c-44ed-88fb-5cc4bd2471bf_Method">
    <vt:lpwstr>Standard</vt:lpwstr>
  </property>
  <property fmtid="{D5CDD505-2E9C-101B-9397-08002B2CF9AE}" pid="6" name="MSIP_Label_a73fd474-4f3c-44ed-88fb-5cc4bd2471bf_Name">
    <vt:lpwstr>defa4170-0d19-0005-0004-bc88714345d2</vt:lpwstr>
  </property>
  <property fmtid="{D5CDD505-2E9C-101B-9397-08002B2CF9AE}" pid="7" name="MSIP_Label_a73fd474-4f3c-44ed-88fb-5cc4bd2471bf_SiteId">
    <vt:lpwstr>8d1a69ec-03b5-4345-ae21-dad112f5fb4f</vt:lpwstr>
  </property>
  <property fmtid="{D5CDD505-2E9C-101B-9397-08002B2CF9AE}" pid="8" name="MSIP_Label_a73fd474-4f3c-44ed-88fb-5cc4bd2471bf_ActionId">
    <vt:lpwstr>3f89c96b-7b1e-42bf-b80c-5cefb0b7dc57</vt:lpwstr>
  </property>
  <property fmtid="{D5CDD505-2E9C-101B-9397-08002B2CF9AE}" pid="9" name="MSIP_Label_a73fd474-4f3c-44ed-88fb-5cc4bd2471bf_ContentBits">
    <vt:lpwstr>0</vt:lpwstr>
  </property>
  <property fmtid="{D5CDD505-2E9C-101B-9397-08002B2CF9AE}" pid="10" name="MSIP_Label_a73fd474-4f3c-44ed-88fb-5cc4bd2471bf_Tag">
    <vt:lpwstr>10, 3, 0, 1</vt:lpwstr>
  </property>
</Properties>
</file>