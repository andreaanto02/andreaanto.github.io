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335" r:id="rId5"/>
    <p:sldId id="336" r:id="rId6"/>
    <p:sldId id="348" r:id="rId7"/>
    <p:sldId id="349" r:id="rId8"/>
    <p:sldId id="339" r:id="rId9"/>
    <p:sldId id="341" r:id="rId10"/>
    <p:sldId id="350" r:id="rId11"/>
    <p:sldId id="342" r:id="rId12"/>
    <p:sldId id="351" r:id="rId13"/>
    <p:sldId id="34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A655"/>
    <a:srgbClr val="93AECA"/>
    <a:srgbClr val="76B7B2"/>
    <a:srgbClr val="E15759"/>
    <a:srgbClr val="F28E2B"/>
    <a:srgbClr val="4E79A7"/>
    <a:srgbClr val="F7BA7E"/>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6" autoAdjust="0"/>
    <p:restoredTop sz="95394" autoAdjust="0"/>
  </p:normalViewPr>
  <p:slideViewPr>
    <p:cSldViewPr snapToGrid="0">
      <p:cViewPr varScale="1">
        <p:scale>
          <a:sx n="91" d="100"/>
          <a:sy n="91" d="100"/>
        </p:scale>
        <p:origin x="139" y="53"/>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diagrams/_rels/data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3A8654-07EB-42BB-9B0A-E7E9CAF76F6F}"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5B3A6DAF-0EEC-4AC3-A188-1ED60299EA56}">
      <dgm:prSet/>
      <dgm:spPr/>
      <dgm:t>
        <a:bodyPr/>
        <a:lstStyle/>
        <a:p>
          <a:r>
            <a:rPr lang="en-US" b="1" dirty="0">
              <a:solidFill>
                <a:schemeClr val="tx1"/>
              </a:solidFill>
            </a:rPr>
            <a:t>01. </a:t>
          </a:r>
          <a:r>
            <a:rPr lang="en-US" dirty="0">
              <a:solidFill>
                <a:schemeClr val="tx1"/>
              </a:solidFill>
            </a:rPr>
            <a:t>Introduction &amp; Data Overview</a:t>
          </a:r>
        </a:p>
      </dgm:t>
    </dgm:pt>
    <dgm:pt modelId="{96B6E6CF-2365-47AC-941E-3F72E0904ADB}" type="parTrans" cxnId="{E941DBC1-3631-4206-B9F9-EBE9DDEEF2F7}">
      <dgm:prSet/>
      <dgm:spPr/>
      <dgm:t>
        <a:bodyPr/>
        <a:lstStyle/>
        <a:p>
          <a:endParaRPr lang="en-US">
            <a:solidFill>
              <a:schemeClr val="tx1"/>
            </a:solidFill>
          </a:endParaRPr>
        </a:p>
      </dgm:t>
    </dgm:pt>
    <dgm:pt modelId="{57EE431E-046F-4F60-B4A6-10B5FD5B5EFC}" type="sibTrans" cxnId="{E941DBC1-3631-4206-B9F9-EBE9DDEEF2F7}">
      <dgm:prSet/>
      <dgm:spPr/>
      <dgm:t>
        <a:bodyPr/>
        <a:lstStyle/>
        <a:p>
          <a:endParaRPr lang="en-US">
            <a:solidFill>
              <a:schemeClr val="tx1"/>
            </a:solidFill>
          </a:endParaRPr>
        </a:p>
      </dgm:t>
    </dgm:pt>
    <dgm:pt modelId="{CE2655E7-A665-4555-97FB-E862954FF40C}">
      <dgm:prSet/>
      <dgm:spPr/>
      <dgm:t>
        <a:bodyPr/>
        <a:lstStyle/>
        <a:p>
          <a:r>
            <a:rPr lang="en-US" b="1" dirty="0">
              <a:solidFill>
                <a:schemeClr val="tx1"/>
              </a:solidFill>
            </a:rPr>
            <a:t>02. </a:t>
          </a:r>
          <a:r>
            <a:rPr lang="en-US" dirty="0">
              <a:solidFill>
                <a:schemeClr val="tx1"/>
              </a:solidFill>
            </a:rPr>
            <a:t>Sales Performance Over Time</a:t>
          </a:r>
        </a:p>
      </dgm:t>
    </dgm:pt>
    <dgm:pt modelId="{B17C3216-F5BF-49BC-A8E3-777399AB010F}" type="parTrans" cxnId="{52E878C9-0EFE-490F-BC03-6F1B55B0D458}">
      <dgm:prSet/>
      <dgm:spPr/>
      <dgm:t>
        <a:bodyPr/>
        <a:lstStyle/>
        <a:p>
          <a:endParaRPr lang="en-US">
            <a:solidFill>
              <a:schemeClr val="tx1"/>
            </a:solidFill>
          </a:endParaRPr>
        </a:p>
      </dgm:t>
    </dgm:pt>
    <dgm:pt modelId="{AC52D4D0-801F-41D4-96EA-63D01775FA7F}" type="sibTrans" cxnId="{52E878C9-0EFE-490F-BC03-6F1B55B0D458}">
      <dgm:prSet/>
      <dgm:spPr/>
      <dgm:t>
        <a:bodyPr/>
        <a:lstStyle/>
        <a:p>
          <a:endParaRPr lang="en-US">
            <a:solidFill>
              <a:schemeClr val="tx1"/>
            </a:solidFill>
          </a:endParaRPr>
        </a:p>
      </dgm:t>
    </dgm:pt>
    <dgm:pt modelId="{5C2E0699-BAA3-48BD-918D-245B5AFC0A3F}">
      <dgm:prSet/>
      <dgm:spPr/>
      <dgm:t>
        <a:bodyPr/>
        <a:lstStyle/>
        <a:p>
          <a:r>
            <a:rPr lang="en-US" b="1" dirty="0">
              <a:solidFill>
                <a:schemeClr val="tx1"/>
              </a:solidFill>
            </a:rPr>
            <a:t>03. </a:t>
          </a:r>
          <a:r>
            <a:rPr lang="en-US" dirty="0">
              <a:solidFill>
                <a:schemeClr val="tx1"/>
              </a:solidFill>
            </a:rPr>
            <a:t>Profitability Analysis by Region &amp; City</a:t>
          </a:r>
        </a:p>
      </dgm:t>
    </dgm:pt>
    <dgm:pt modelId="{8C7F3E1F-FBFF-4C19-B361-9C998E9479C6}" type="parTrans" cxnId="{50F7B6EE-6254-4903-81E0-5319DE8DAF5D}">
      <dgm:prSet/>
      <dgm:spPr/>
      <dgm:t>
        <a:bodyPr/>
        <a:lstStyle/>
        <a:p>
          <a:endParaRPr lang="en-US">
            <a:solidFill>
              <a:schemeClr val="tx1"/>
            </a:solidFill>
          </a:endParaRPr>
        </a:p>
      </dgm:t>
    </dgm:pt>
    <dgm:pt modelId="{FF2BEADE-606F-4165-94B1-C31A5737F3D7}" type="sibTrans" cxnId="{50F7B6EE-6254-4903-81E0-5319DE8DAF5D}">
      <dgm:prSet/>
      <dgm:spPr/>
      <dgm:t>
        <a:bodyPr/>
        <a:lstStyle/>
        <a:p>
          <a:endParaRPr lang="en-US">
            <a:solidFill>
              <a:schemeClr val="tx1"/>
            </a:solidFill>
          </a:endParaRPr>
        </a:p>
      </dgm:t>
    </dgm:pt>
    <dgm:pt modelId="{6E39068D-FB53-48EF-BD3C-E7E5FD2BC5A4}">
      <dgm:prSet/>
      <dgm:spPr/>
      <dgm:t>
        <a:bodyPr/>
        <a:lstStyle/>
        <a:p>
          <a:r>
            <a:rPr lang="en-US" b="1" dirty="0">
              <a:solidFill>
                <a:schemeClr val="tx1"/>
              </a:solidFill>
            </a:rPr>
            <a:t>04. </a:t>
          </a:r>
          <a:r>
            <a:rPr lang="en-US" dirty="0">
              <a:solidFill>
                <a:schemeClr val="tx1"/>
              </a:solidFill>
            </a:rPr>
            <a:t>Key Business KPIs</a:t>
          </a:r>
        </a:p>
      </dgm:t>
    </dgm:pt>
    <dgm:pt modelId="{15905457-8EF1-470C-9B31-D21BAA1FA023}" type="parTrans" cxnId="{B006C653-0DB4-4F17-8C34-80EC08EA327E}">
      <dgm:prSet/>
      <dgm:spPr/>
      <dgm:t>
        <a:bodyPr/>
        <a:lstStyle/>
        <a:p>
          <a:endParaRPr lang="en-US">
            <a:solidFill>
              <a:schemeClr val="tx1"/>
            </a:solidFill>
          </a:endParaRPr>
        </a:p>
      </dgm:t>
    </dgm:pt>
    <dgm:pt modelId="{7BB68D39-5473-47AF-B371-25802090FD61}" type="sibTrans" cxnId="{B006C653-0DB4-4F17-8C34-80EC08EA327E}">
      <dgm:prSet/>
      <dgm:spPr/>
      <dgm:t>
        <a:bodyPr/>
        <a:lstStyle/>
        <a:p>
          <a:endParaRPr lang="en-US">
            <a:solidFill>
              <a:schemeClr val="tx1"/>
            </a:solidFill>
          </a:endParaRPr>
        </a:p>
      </dgm:t>
    </dgm:pt>
    <dgm:pt modelId="{5286E14A-171F-4AF5-86C5-C3E838444954}">
      <dgm:prSet/>
      <dgm:spPr/>
      <dgm:t>
        <a:bodyPr/>
        <a:lstStyle/>
        <a:p>
          <a:r>
            <a:rPr lang="en-US" b="1" dirty="0">
              <a:solidFill>
                <a:schemeClr val="tx1"/>
              </a:solidFill>
            </a:rPr>
            <a:t>05. </a:t>
          </a:r>
          <a:r>
            <a:rPr lang="en-US" dirty="0">
              <a:solidFill>
                <a:schemeClr val="tx1"/>
              </a:solidFill>
            </a:rPr>
            <a:t>Key Insights &amp; Next Steps</a:t>
          </a:r>
        </a:p>
      </dgm:t>
    </dgm:pt>
    <dgm:pt modelId="{3313C172-3347-4F67-B514-53FFC10FD0FE}" type="parTrans" cxnId="{0A2C5E6E-7A75-4D7A-9B08-A1F7D87209C2}">
      <dgm:prSet/>
      <dgm:spPr/>
      <dgm:t>
        <a:bodyPr/>
        <a:lstStyle/>
        <a:p>
          <a:endParaRPr lang="en-US">
            <a:solidFill>
              <a:schemeClr val="tx1"/>
            </a:solidFill>
          </a:endParaRPr>
        </a:p>
      </dgm:t>
    </dgm:pt>
    <dgm:pt modelId="{7D1ED972-4952-4619-B4B7-A418FAF8CE56}" type="sibTrans" cxnId="{0A2C5E6E-7A75-4D7A-9B08-A1F7D87209C2}">
      <dgm:prSet/>
      <dgm:spPr/>
      <dgm:t>
        <a:bodyPr/>
        <a:lstStyle/>
        <a:p>
          <a:endParaRPr lang="en-US">
            <a:solidFill>
              <a:schemeClr val="tx1"/>
            </a:solidFill>
          </a:endParaRPr>
        </a:p>
      </dgm:t>
    </dgm:pt>
    <dgm:pt modelId="{E2F9F1E5-057D-493B-A8BE-9B699E9783D1}" type="pres">
      <dgm:prSet presAssocID="{503A8654-07EB-42BB-9B0A-E7E9CAF76F6F}" presName="root" presStyleCnt="0">
        <dgm:presLayoutVars>
          <dgm:dir/>
          <dgm:resizeHandles val="exact"/>
        </dgm:presLayoutVars>
      </dgm:prSet>
      <dgm:spPr/>
    </dgm:pt>
    <dgm:pt modelId="{138C2877-0978-49AD-9056-A4271C63B89D}" type="pres">
      <dgm:prSet presAssocID="{5B3A6DAF-0EEC-4AC3-A188-1ED60299EA56}" presName="compNode" presStyleCnt="0"/>
      <dgm:spPr/>
    </dgm:pt>
    <dgm:pt modelId="{C6486701-36DE-4678-BB51-5F33BE070A63}" type="pres">
      <dgm:prSet presAssocID="{5B3A6DAF-0EEC-4AC3-A188-1ED60299EA5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udience"/>
        </a:ext>
      </dgm:extLst>
    </dgm:pt>
    <dgm:pt modelId="{DBE37866-4DE5-49CE-9E4E-AFF31DAAE52E}" type="pres">
      <dgm:prSet presAssocID="{5B3A6DAF-0EEC-4AC3-A188-1ED60299EA56}" presName="spaceRect" presStyleCnt="0"/>
      <dgm:spPr/>
    </dgm:pt>
    <dgm:pt modelId="{DC91A39A-82E2-483D-8C76-D97ED6CE9ADD}" type="pres">
      <dgm:prSet presAssocID="{5B3A6DAF-0EEC-4AC3-A188-1ED60299EA56}" presName="textRect" presStyleLbl="revTx" presStyleIdx="0" presStyleCnt="5">
        <dgm:presLayoutVars>
          <dgm:chMax val="1"/>
          <dgm:chPref val="1"/>
        </dgm:presLayoutVars>
      </dgm:prSet>
      <dgm:spPr/>
    </dgm:pt>
    <dgm:pt modelId="{6242902C-27B9-4B66-8D0B-56E4208428DD}" type="pres">
      <dgm:prSet presAssocID="{57EE431E-046F-4F60-B4A6-10B5FD5B5EFC}" presName="sibTrans" presStyleCnt="0"/>
      <dgm:spPr/>
    </dgm:pt>
    <dgm:pt modelId="{50DD5598-21DC-4966-84C1-5D46B83FDC40}" type="pres">
      <dgm:prSet presAssocID="{CE2655E7-A665-4555-97FB-E862954FF40C}" presName="compNode" presStyleCnt="0"/>
      <dgm:spPr/>
    </dgm:pt>
    <dgm:pt modelId="{7AF6B99B-151C-4175-96C9-C2D7B9063210}" type="pres">
      <dgm:prSet presAssocID="{CE2655E7-A665-4555-97FB-E862954FF40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679C0751-0B5D-4F50-96AD-B28A48905AAD}" type="pres">
      <dgm:prSet presAssocID="{CE2655E7-A665-4555-97FB-E862954FF40C}" presName="spaceRect" presStyleCnt="0"/>
      <dgm:spPr/>
    </dgm:pt>
    <dgm:pt modelId="{5B33DAC5-B9EC-4A67-9B29-92B0806E7249}" type="pres">
      <dgm:prSet presAssocID="{CE2655E7-A665-4555-97FB-E862954FF40C}" presName="textRect" presStyleLbl="revTx" presStyleIdx="1" presStyleCnt="5">
        <dgm:presLayoutVars>
          <dgm:chMax val="1"/>
          <dgm:chPref val="1"/>
        </dgm:presLayoutVars>
      </dgm:prSet>
      <dgm:spPr/>
    </dgm:pt>
    <dgm:pt modelId="{0E6D3E88-40D1-45F8-9BAA-E2BA38ECF7A3}" type="pres">
      <dgm:prSet presAssocID="{AC52D4D0-801F-41D4-96EA-63D01775FA7F}" presName="sibTrans" presStyleCnt="0"/>
      <dgm:spPr/>
    </dgm:pt>
    <dgm:pt modelId="{B409434F-FB3C-4223-BCEA-910EE869BC43}" type="pres">
      <dgm:prSet presAssocID="{5C2E0699-BAA3-48BD-918D-245B5AFC0A3F}" presName="compNode" presStyleCnt="0"/>
      <dgm:spPr/>
    </dgm:pt>
    <dgm:pt modelId="{A8618074-F7B0-41B6-9859-B7C7EC3351B5}" type="pres">
      <dgm:prSet presAssocID="{5C2E0699-BAA3-48BD-918D-245B5AFC0A3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CD56947E-5525-4E84-8570-AAED43F31E2A}" type="pres">
      <dgm:prSet presAssocID="{5C2E0699-BAA3-48BD-918D-245B5AFC0A3F}" presName="spaceRect" presStyleCnt="0"/>
      <dgm:spPr/>
    </dgm:pt>
    <dgm:pt modelId="{2AAF2237-643B-4724-ADA2-0BF6AE816D59}" type="pres">
      <dgm:prSet presAssocID="{5C2E0699-BAA3-48BD-918D-245B5AFC0A3F}" presName="textRect" presStyleLbl="revTx" presStyleIdx="2" presStyleCnt="5">
        <dgm:presLayoutVars>
          <dgm:chMax val="1"/>
          <dgm:chPref val="1"/>
        </dgm:presLayoutVars>
      </dgm:prSet>
      <dgm:spPr/>
    </dgm:pt>
    <dgm:pt modelId="{FFCA17F2-3BFD-4A4F-95D4-6E0582A8CF94}" type="pres">
      <dgm:prSet presAssocID="{FF2BEADE-606F-4165-94B1-C31A5737F3D7}" presName="sibTrans" presStyleCnt="0"/>
      <dgm:spPr/>
    </dgm:pt>
    <dgm:pt modelId="{98841C21-B111-455D-A1FC-71FA500A05C6}" type="pres">
      <dgm:prSet presAssocID="{6E39068D-FB53-48EF-BD3C-E7E5FD2BC5A4}" presName="compNode" presStyleCnt="0"/>
      <dgm:spPr/>
    </dgm:pt>
    <dgm:pt modelId="{0DC228E2-7E4D-40AA-8869-37612D929163}" type="pres">
      <dgm:prSet presAssocID="{6E39068D-FB53-48EF-BD3C-E7E5FD2BC5A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D1835636-4358-4F68-97AF-0E7CC0AE8A4F}" type="pres">
      <dgm:prSet presAssocID="{6E39068D-FB53-48EF-BD3C-E7E5FD2BC5A4}" presName="spaceRect" presStyleCnt="0"/>
      <dgm:spPr/>
    </dgm:pt>
    <dgm:pt modelId="{85A5F8AD-F693-4A4F-B26A-CB7F8EBFEB07}" type="pres">
      <dgm:prSet presAssocID="{6E39068D-FB53-48EF-BD3C-E7E5FD2BC5A4}" presName="textRect" presStyleLbl="revTx" presStyleIdx="3" presStyleCnt="5">
        <dgm:presLayoutVars>
          <dgm:chMax val="1"/>
          <dgm:chPref val="1"/>
        </dgm:presLayoutVars>
      </dgm:prSet>
      <dgm:spPr/>
    </dgm:pt>
    <dgm:pt modelId="{5FFD4707-0E8D-475B-8664-8A99A35E217B}" type="pres">
      <dgm:prSet presAssocID="{7BB68D39-5473-47AF-B371-25802090FD61}" presName="sibTrans" presStyleCnt="0"/>
      <dgm:spPr/>
    </dgm:pt>
    <dgm:pt modelId="{BDA47E40-E858-48C9-9C51-C46BD5DF602A}" type="pres">
      <dgm:prSet presAssocID="{5286E14A-171F-4AF5-86C5-C3E838444954}" presName="compNode" presStyleCnt="0"/>
      <dgm:spPr/>
    </dgm:pt>
    <dgm:pt modelId="{B9E6A6B0-9151-423D-99FD-D206B24C58EE}" type="pres">
      <dgm:prSet presAssocID="{5286E14A-171F-4AF5-86C5-C3E83844495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bulb"/>
        </a:ext>
      </dgm:extLst>
    </dgm:pt>
    <dgm:pt modelId="{A2001CAF-E451-426C-8944-C9EB7FF8E0D5}" type="pres">
      <dgm:prSet presAssocID="{5286E14A-171F-4AF5-86C5-C3E838444954}" presName="spaceRect" presStyleCnt="0"/>
      <dgm:spPr/>
    </dgm:pt>
    <dgm:pt modelId="{7AAF3A04-9D94-46D0-947D-FE4AE23BF9A8}" type="pres">
      <dgm:prSet presAssocID="{5286E14A-171F-4AF5-86C5-C3E838444954}" presName="textRect" presStyleLbl="revTx" presStyleIdx="4" presStyleCnt="5">
        <dgm:presLayoutVars>
          <dgm:chMax val="1"/>
          <dgm:chPref val="1"/>
        </dgm:presLayoutVars>
      </dgm:prSet>
      <dgm:spPr/>
    </dgm:pt>
  </dgm:ptLst>
  <dgm:cxnLst>
    <dgm:cxn modelId="{B2F01203-3546-49D1-A950-A9D92342EA45}" type="presOf" srcId="{CE2655E7-A665-4555-97FB-E862954FF40C}" destId="{5B33DAC5-B9EC-4A67-9B29-92B0806E7249}" srcOrd="0" destOrd="0" presId="urn:microsoft.com/office/officeart/2018/2/layout/IconLabelList"/>
    <dgm:cxn modelId="{9BF84F2E-875D-4A2B-97C9-96898C01C826}" type="presOf" srcId="{5B3A6DAF-0EEC-4AC3-A188-1ED60299EA56}" destId="{DC91A39A-82E2-483D-8C76-D97ED6CE9ADD}" srcOrd="0" destOrd="0" presId="urn:microsoft.com/office/officeart/2018/2/layout/IconLabelList"/>
    <dgm:cxn modelId="{0A2C5E6E-7A75-4D7A-9B08-A1F7D87209C2}" srcId="{503A8654-07EB-42BB-9B0A-E7E9CAF76F6F}" destId="{5286E14A-171F-4AF5-86C5-C3E838444954}" srcOrd="4" destOrd="0" parTransId="{3313C172-3347-4F67-B514-53FFC10FD0FE}" sibTransId="{7D1ED972-4952-4619-B4B7-A418FAF8CE56}"/>
    <dgm:cxn modelId="{D42E3272-F0D3-4103-BC22-D0B6D890FC01}" type="presOf" srcId="{6E39068D-FB53-48EF-BD3C-E7E5FD2BC5A4}" destId="{85A5F8AD-F693-4A4F-B26A-CB7F8EBFEB07}" srcOrd="0" destOrd="0" presId="urn:microsoft.com/office/officeart/2018/2/layout/IconLabelList"/>
    <dgm:cxn modelId="{B006C653-0DB4-4F17-8C34-80EC08EA327E}" srcId="{503A8654-07EB-42BB-9B0A-E7E9CAF76F6F}" destId="{6E39068D-FB53-48EF-BD3C-E7E5FD2BC5A4}" srcOrd="3" destOrd="0" parTransId="{15905457-8EF1-470C-9B31-D21BAA1FA023}" sibTransId="{7BB68D39-5473-47AF-B371-25802090FD61}"/>
    <dgm:cxn modelId="{E941DBC1-3631-4206-B9F9-EBE9DDEEF2F7}" srcId="{503A8654-07EB-42BB-9B0A-E7E9CAF76F6F}" destId="{5B3A6DAF-0EEC-4AC3-A188-1ED60299EA56}" srcOrd="0" destOrd="0" parTransId="{96B6E6CF-2365-47AC-941E-3F72E0904ADB}" sibTransId="{57EE431E-046F-4F60-B4A6-10B5FD5B5EFC}"/>
    <dgm:cxn modelId="{52E878C9-0EFE-490F-BC03-6F1B55B0D458}" srcId="{503A8654-07EB-42BB-9B0A-E7E9CAF76F6F}" destId="{CE2655E7-A665-4555-97FB-E862954FF40C}" srcOrd="1" destOrd="0" parTransId="{B17C3216-F5BF-49BC-A8E3-777399AB010F}" sibTransId="{AC52D4D0-801F-41D4-96EA-63D01775FA7F}"/>
    <dgm:cxn modelId="{00933BD1-8105-4DB1-A206-30710B13EFA5}" type="presOf" srcId="{5286E14A-171F-4AF5-86C5-C3E838444954}" destId="{7AAF3A04-9D94-46D0-947D-FE4AE23BF9A8}" srcOrd="0" destOrd="0" presId="urn:microsoft.com/office/officeart/2018/2/layout/IconLabelList"/>
    <dgm:cxn modelId="{B089C5E3-3231-431A-A09C-92307A6D6781}" type="presOf" srcId="{5C2E0699-BAA3-48BD-918D-245B5AFC0A3F}" destId="{2AAF2237-643B-4724-ADA2-0BF6AE816D59}" srcOrd="0" destOrd="0" presId="urn:microsoft.com/office/officeart/2018/2/layout/IconLabelList"/>
    <dgm:cxn modelId="{50F7B6EE-6254-4903-81E0-5319DE8DAF5D}" srcId="{503A8654-07EB-42BB-9B0A-E7E9CAF76F6F}" destId="{5C2E0699-BAA3-48BD-918D-245B5AFC0A3F}" srcOrd="2" destOrd="0" parTransId="{8C7F3E1F-FBFF-4C19-B361-9C998E9479C6}" sibTransId="{FF2BEADE-606F-4165-94B1-C31A5737F3D7}"/>
    <dgm:cxn modelId="{BB46A2FE-F095-478A-8134-E041ECA3033C}" type="presOf" srcId="{503A8654-07EB-42BB-9B0A-E7E9CAF76F6F}" destId="{E2F9F1E5-057D-493B-A8BE-9B699E9783D1}" srcOrd="0" destOrd="0" presId="urn:microsoft.com/office/officeart/2018/2/layout/IconLabelList"/>
    <dgm:cxn modelId="{0C5E73F0-2687-40B4-A4F9-646362DC397C}" type="presParOf" srcId="{E2F9F1E5-057D-493B-A8BE-9B699E9783D1}" destId="{138C2877-0978-49AD-9056-A4271C63B89D}" srcOrd="0" destOrd="0" presId="urn:microsoft.com/office/officeart/2018/2/layout/IconLabelList"/>
    <dgm:cxn modelId="{7184AD05-EEE2-417E-9952-3916CE41E971}" type="presParOf" srcId="{138C2877-0978-49AD-9056-A4271C63B89D}" destId="{C6486701-36DE-4678-BB51-5F33BE070A63}" srcOrd="0" destOrd="0" presId="urn:microsoft.com/office/officeart/2018/2/layout/IconLabelList"/>
    <dgm:cxn modelId="{CF963922-5560-44D7-BF03-4D59BC75E6D2}" type="presParOf" srcId="{138C2877-0978-49AD-9056-A4271C63B89D}" destId="{DBE37866-4DE5-49CE-9E4E-AFF31DAAE52E}" srcOrd="1" destOrd="0" presId="urn:microsoft.com/office/officeart/2018/2/layout/IconLabelList"/>
    <dgm:cxn modelId="{170C17C0-1246-4A73-AC1D-BFCF6A5D4A73}" type="presParOf" srcId="{138C2877-0978-49AD-9056-A4271C63B89D}" destId="{DC91A39A-82E2-483D-8C76-D97ED6CE9ADD}" srcOrd="2" destOrd="0" presId="urn:microsoft.com/office/officeart/2018/2/layout/IconLabelList"/>
    <dgm:cxn modelId="{18BE576B-2BEC-4AB6-A0D6-568962375DB6}" type="presParOf" srcId="{E2F9F1E5-057D-493B-A8BE-9B699E9783D1}" destId="{6242902C-27B9-4B66-8D0B-56E4208428DD}" srcOrd="1" destOrd="0" presId="urn:microsoft.com/office/officeart/2018/2/layout/IconLabelList"/>
    <dgm:cxn modelId="{08CCD9D3-87DD-4C09-A90B-C46929625F8C}" type="presParOf" srcId="{E2F9F1E5-057D-493B-A8BE-9B699E9783D1}" destId="{50DD5598-21DC-4966-84C1-5D46B83FDC40}" srcOrd="2" destOrd="0" presId="urn:microsoft.com/office/officeart/2018/2/layout/IconLabelList"/>
    <dgm:cxn modelId="{2C024664-020C-4CF5-AFCA-A204AF4F9A01}" type="presParOf" srcId="{50DD5598-21DC-4966-84C1-5D46B83FDC40}" destId="{7AF6B99B-151C-4175-96C9-C2D7B9063210}" srcOrd="0" destOrd="0" presId="urn:microsoft.com/office/officeart/2018/2/layout/IconLabelList"/>
    <dgm:cxn modelId="{417B4F31-94EA-46A0-9E32-A273017ED7FC}" type="presParOf" srcId="{50DD5598-21DC-4966-84C1-5D46B83FDC40}" destId="{679C0751-0B5D-4F50-96AD-B28A48905AAD}" srcOrd="1" destOrd="0" presId="urn:microsoft.com/office/officeart/2018/2/layout/IconLabelList"/>
    <dgm:cxn modelId="{E48EE6B2-9200-4A22-B1E5-C24C740AD749}" type="presParOf" srcId="{50DD5598-21DC-4966-84C1-5D46B83FDC40}" destId="{5B33DAC5-B9EC-4A67-9B29-92B0806E7249}" srcOrd="2" destOrd="0" presId="urn:microsoft.com/office/officeart/2018/2/layout/IconLabelList"/>
    <dgm:cxn modelId="{95AFC195-084E-4AC5-A1DE-60EFB71D014B}" type="presParOf" srcId="{E2F9F1E5-057D-493B-A8BE-9B699E9783D1}" destId="{0E6D3E88-40D1-45F8-9BAA-E2BA38ECF7A3}" srcOrd="3" destOrd="0" presId="urn:microsoft.com/office/officeart/2018/2/layout/IconLabelList"/>
    <dgm:cxn modelId="{C98C6943-9B39-4126-B59F-3B6115FDE4E2}" type="presParOf" srcId="{E2F9F1E5-057D-493B-A8BE-9B699E9783D1}" destId="{B409434F-FB3C-4223-BCEA-910EE869BC43}" srcOrd="4" destOrd="0" presId="urn:microsoft.com/office/officeart/2018/2/layout/IconLabelList"/>
    <dgm:cxn modelId="{7F7280F7-BE84-4DE0-90E1-76AD6926F6A3}" type="presParOf" srcId="{B409434F-FB3C-4223-BCEA-910EE869BC43}" destId="{A8618074-F7B0-41B6-9859-B7C7EC3351B5}" srcOrd="0" destOrd="0" presId="urn:microsoft.com/office/officeart/2018/2/layout/IconLabelList"/>
    <dgm:cxn modelId="{987E6C25-B530-437B-9799-937852A2DEB7}" type="presParOf" srcId="{B409434F-FB3C-4223-BCEA-910EE869BC43}" destId="{CD56947E-5525-4E84-8570-AAED43F31E2A}" srcOrd="1" destOrd="0" presId="urn:microsoft.com/office/officeart/2018/2/layout/IconLabelList"/>
    <dgm:cxn modelId="{EADE4008-D7D0-4468-BE6E-8B063168B735}" type="presParOf" srcId="{B409434F-FB3C-4223-BCEA-910EE869BC43}" destId="{2AAF2237-643B-4724-ADA2-0BF6AE816D59}" srcOrd="2" destOrd="0" presId="urn:microsoft.com/office/officeart/2018/2/layout/IconLabelList"/>
    <dgm:cxn modelId="{8985DA72-53AF-4041-BC97-3FD6138E3D22}" type="presParOf" srcId="{E2F9F1E5-057D-493B-A8BE-9B699E9783D1}" destId="{FFCA17F2-3BFD-4A4F-95D4-6E0582A8CF94}" srcOrd="5" destOrd="0" presId="urn:microsoft.com/office/officeart/2018/2/layout/IconLabelList"/>
    <dgm:cxn modelId="{70A45D1E-8814-4D8C-BE31-B0B613BC00A3}" type="presParOf" srcId="{E2F9F1E5-057D-493B-A8BE-9B699E9783D1}" destId="{98841C21-B111-455D-A1FC-71FA500A05C6}" srcOrd="6" destOrd="0" presId="urn:microsoft.com/office/officeart/2018/2/layout/IconLabelList"/>
    <dgm:cxn modelId="{CC695D4C-F265-44A8-B577-700C1BFEFD3B}" type="presParOf" srcId="{98841C21-B111-455D-A1FC-71FA500A05C6}" destId="{0DC228E2-7E4D-40AA-8869-37612D929163}" srcOrd="0" destOrd="0" presId="urn:microsoft.com/office/officeart/2018/2/layout/IconLabelList"/>
    <dgm:cxn modelId="{E114016E-7A91-4C9D-B5EC-01B8190F3486}" type="presParOf" srcId="{98841C21-B111-455D-A1FC-71FA500A05C6}" destId="{D1835636-4358-4F68-97AF-0E7CC0AE8A4F}" srcOrd="1" destOrd="0" presId="urn:microsoft.com/office/officeart/2018/2/layout/IconLabelList"/>
    <dgm:cxn modelId="{15F4BCD3-901F-4DE9-9267-ED5E0B1E2288}" type="presParOf" srcId="{98841C21-B111-455D-A1FC-71FA500A05C6}" destId="{85A5F8AD-F693-4A4F-B26A-CB7F8EBFEB07}" srcOrd="2" destOrd="0" presId="urn:microsoft.com/office/officeart/2018/2/layout/IconLabelList"/>
    <dgm:cxn modelId="{367DF9BB-BBF1-4A45-8D68-50C92DC46E5D}" type="presParOf" srcId="{E2F9F1E5-057D-493B-A8BE-9B699E9783D1}" destId="{5FFD4707-0E8D-475B-8664-8A99A35E217B}" srcOrd="7" destOrd="0" presId="urn:microsoft.com/office/officeart/2018/2/layout/IconLabelList"/>
    <dgm:cxn modelId="{C0BC4076-E5B8-4E8D-ADE5-9A8B85965014}" type="presParOf" srcId="{E2F9F1E5-057D-493B-A8BE-9B699E9783D1}" destId="{BDA47E40-E858-48C9-9C51-C46BD5DF602A}" srcOrd="8" destOrd="0" presId="urn:microsoft.com/office/officeart/2018/2/layout/IconLabelList"/>
    <dgm:cxn modelId="{7ADEB147-40B3-4A6C-8D10-3725C0D6BEF2}" type="presParOf" srcId="{BDA47E40-E858-48C9-9C51-C46BD5DF602A}" destId="{B9E6A6B0-9151-423D-99FD-D206B24C58EE}" srcOrd="0" destOrd="0" presId="urn:microsoft.com/office/officeart/2018/2/layout/IconLabelList"/>
    <dgm:cxn modelId="{090EA3DF-0D62-4174-BF58-6D1E590AC764}" type="presParOf" srcId="{BDA47E40-E858-48C9-9C51-C46BD5DF602A}" destId="{A2001CAF-E451-426C-8944-C9EB7FF8E0D5}" srcOrd="1" destOrd="0" presId="urn:microsoft.com/office/officeart/2018/2/layout/IconLabelList"/>
    <dgm:cxn modelId="{C526ECA7-BC43-4284-863A-0189CC9B4A5D}" type="presParOf" srcId="{BDA47E40-E858-48C9-9C51-C46BD5DF602A}" destId="{7AAF3A04-9D94-46D0-947D-FE4AE23BF9A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86701-36DE-4678-BB51-5F33BE070A63}">
      <dsp:nvSpPr>
        <dsp:cNvPr id="0" name=""/>
        <dsp:cNvSpPr/>
      </dsp:nvSpPr>
      <dsp:spPr>
        <a:xfrm>
          <a:off x="444530" y="780873"/>
          <a:ext cx="721406" cy="7214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91A39A-82E2-483D-8C76-D97ED6CE9ADD}">
      <dsp:nvSpPr>
        <dsp:cNvPr id="0" name=""/>
        <dsp:cNvSpPr/>
      </dsp:nvSpPr>
      <dsp:spPr>
        <a:xfrm>
          <a:off x="3671" y="1742802"/>
          <a:ext cx="1603125" cy="64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01. </a:t>
          </a:r>
          <a:r>
            <a:rPr lang="en-US" sz="1500" kern="1200" dirty="0">
              <a:solidFill>
                <a:schemeClr val="tx1"/>
              </a:solidFill>
            </a:rPr>
            <a:t>Introduction &amp; Data Overview</a:t>
          </a:r>
        </a:p>
      </dsp:txBody>
      <dsp:txXfrm>
        <a:off x="3671" y="1742802"/>
        <a:ext cx="1603125" cy="641250"/>
      </dsp:txXfrm>
    </dsp:sp>
    <dsp:sp modelId="{7AF6B99B-151C-4175-96C9-C2D7B9063210}">
      <dsp:nvSpPr>
        <dsp:cNvPr id="0" name=""/>
        <dsp:cNvSpPr/>
      </dsp:nvSpPr>
      <dsp:spPr>
        <a:xfrm>
          <a:off x="2328202" y="780873"/>
          <a:ext cx="721406" cy="7214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33DAC5-B9EC-4A67-9B29-92B0806E7249}">
      <dsp:nvSpPr>
        <dsp:cNvPr id="0" name=""/>
        <dsp:cNvSpPr/>
      </dsp:nvSpPr>
      <dsp:spPr>
        <a:xfrm>
          <a:off x="1887343" y="1742802"/>
          <a:ext cx="1603125" cy="64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02. </a:t>
          </a:r>
          <a:r>
            <a:rPr lang="en-US" sz="1500" kern="1200" dirty="0">
              <a:solidFill>
                <a:schemeClr val="tx1"/>
              </a:solidFill>
            </a:rPr>
            <a:t>Sales Performance Over Time</a:t>
          </a:r>
        </a:p>
      </dsp:txBody>
      <dsp:txXfrm>
        <a:off x="1887343" y="1742802"/>
        <a:ext cx="1603125" cy="641250"/>
      </dsp:txXfrm>
    </dsp:sp>
    <dsp:sp modelId="{A8618074-F7B0-41B6-9859-B7C7EC3351B5}">
      <dsp:nvSpPr>
        <dsp:cNvPr id="0" name=""/>
        <dsp:cNvSpPr/>
      </dsp:nvSpPr>
      <dsp:spPr>
        <a:xfrm>
          <a:off x="4211874" y="780873"/>
          <a:ext cx="721406" cy="7214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AF2237-643B-4724-ADA2-0BF6AE816D59}">
      <dsp:nvSpPr>
        <dsp:cNvPr id="0" name=""/>
        <dsp:cNvSpPr/>
      </dsp:nvSpPr>
      <dsp:spPr>
        <a:xfrm>
          <a:off x="3771015" y="1742802"/>
          <a:ext cx="1603125" cy="64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03. </a:t>
          </a:r>
          <a:r>
            <a:rPr lang="en-US" sz="1500" kern="1200" dirty="0">
              <a:solidFill>
                <a:schemeClr val="tx1"/>
              </a:solidFill>
            </a:rPr>
            <a:t>Profitability Analysis by Region &amp; City</a:t>
          </a:r>
        </a:p>
      </dsp:txBody>
      <dsp:txXfrm>
        <a:off x="3771015" y="1742802"/>
        <a:ext cx="1603125" cy="641250"/>
      </dsp:txXfrm>
    </dsp:sp>
    <dsp:sp modelId="{0DC228E2-7E4D-40AA-8869-37612D929163}">
      <dsp:nvSpPr>
        <dsp:cNvPr id="0" name=""/>
        <dsp:cNvSpPr/>
      </dsp:nvSpPr>
      <dsp:spPr>
        <a:xfrm>
          <a:off x="6095546" y="780873"/>
          <a:ext cx="721406" cy="7214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A5F8AD-F693-4A4F-B26A-CB7F8EBFEB07}">
      <dsp:nvSpPr>
        <dsp:cNvPr id="0" name=""/>
        <dsp:cNvSpPr/>
      </dsp:nvSpPr>
      <dsp:spPr>
        <a:xfrm>
          <a:off x="5654686" y="1742802"/>
          <a:ext cx="1603125" cy="64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04. </a:t>
          </a:r>
          <a:r>
            <a:rPr lang="en-US" sz="1500" kern="1200" dirty="0">
              <a:solidFill>
                <a:schemeClr val="tx1"/>
              </a:solidFill>
            </a:rPr>
            <a:t>Key Business KPIs</a:t>
          </a:r>
        </a:p>
      </dsp:txBody>
      <dsp:txXfrm>
        <a:off x="5654686" y="1742802"/>
        <a:ext cx="1603125" cy="641250"/>
      </dsp:txXfrm>
    </dsp:sp>
    <dsp:sp modelId="{B9E6A6B0-9151-423D-99FD-D206B24C58EE}">
      <dsp:nvSpPr>
        <dsp:cNvPr id="0" name=""/>
        <dsp:cNvSpPr/>
      </dsp:nvSpPr>
      <dsp:spPr>
        <a:xfrm>
          <a:off x="7979218" y="780873"/>
          <a:ext cx="721406" cy="72140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AF3A04-9D94-46D0-947D-FE4AE23BF9A8}">
      <dsp:nvSpPr>
        <dsp:cNvPr id="0" name=""/>
        <dsp:cNvSpPr/>
      </dsp:nvSpPr>
      <dsp:spPr>
        <a:xfrm>
          <a:off x="7538358" y="1742802"/>
          <a:ext cx="1603125" cy="64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05. </a:t>
          </a:r>
          <a:r>
            <a:rPr lang="en-US" sz="1500" kern="1200" dirty="0">
              <a:solidFill>
                <a:schemeClr val="tx1"/>
              </a:solidFill>
            </a:rPr>
            <a:t>Key Insights &amp; Next Steps</a:t>
          </a:r>
        </a:p>
      </dsp:txBody>
      <dsp:txXfrm>
        <a:off x="7538358" y="1742802"/>
        <a:ext cx="1603125" cy="64125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1/26/2026</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5</a:t>
            </a:fld>
            <a:endParaRPr lang="en-US" dirty="0"/>
          </a:p>
        </p:txBody>
      </p:sp>
    </p:spTree>
    <p:extLst>
      <p:ext uri="{BB962C8B-B14F-4D97-AF65-F5344CB8AC3E}">
        <p14:creationId xmlns:p14="http://schemas.microsoft.com/office/powerpoint/2010/main" val="966442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6</a:t>
            </a:fld>
            <a:endParaRPr lang="en-US" dirty="0"/>
          </a:p>
        </p:txBody>
      </p:sp>
    </p:spTree>
    <p:extLst>
      <p:ext uri="{BB962C8B-B14F-4D97-AF65-F5344CB8AC3E}">
        <p14:creationId xmlns:p14="http://schemas.microsoft.com/office/powerpoint/2010/main" val="4055471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ublic.tableau.com/views/StoresSalesAnalysis_17694634620510/SalesbyDate?:language=en-US&amp;publish=yes&amp;:sid=&amp;:redirect=auth&amp;:display_count=n&amp;:origin=viz_share_link" TargetMode="External"/><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public.tableau.com/views/StoresSalesAnalysis_17694634620510/SalesbyCategory?:language=en-US&amp;publish=yes&amp;:sid=&amp;:redirect=auth&amp;:display_count=n&amp;:origin=viz_share_lin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public.tableau.com/views/StoresSalesAnalysis_17694634620510/ProfitRatio?:language=en-US&amp;publish=yes&amp;:sid=&amp;:redirect=auth&amp;:display_count=n&amp;:origin=viz_share_link"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public.tableau.com/views/StoresSalesAnalysis_17694634620510/KPI?:language=en-US&amp;publish=yes&amp;:sid=&amp;:redirect=auth&amp;:display_count=n&amp;:origin=viz_share_link"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ublic.tableau.com/app/profile/andrea.antonuzzo/viz/StoresSalesAnalysis_17694634620510/ProfitRatioBycity" TargetMode="External"/><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6071616" y="960120"/>
            <a:ext cx="5221224" cy="3056343"/>
          </a:xfrm>
        </p:spPr>
        <p:txBody>
          <a:bodyPr>
            <a:normAutofit fontScale="90000"/>
          </a:bodyPr>
          <a:lstStyle/>
          <a:p>
            <a:r>
              <a:rPr lang="en-US" dirty="0"/>
              <a:t>Sales &amp; Profitability </a:t>
            </a:r>
            <a:br>
              <a:rPr lang="en-US" dirty="0"/>
            </a:br>
            <a:r>
              <a:rPr lang="en-US" dirty="0"/>
              <a:t>Performance Review </a:t>
            </a:r>
            <a:br>
              <a:rPr lang="en-US" dirty="0"/>
            </a:br>
            <a:r>
              <a:rPr lang="en-US" dirty="0"/>
              <a:t>(Tableau Analysis)</a:t>
            </a:r>
          </a:p>
        </p:txBody>
      </p:sp>
      <p:sp>
        <p:nvSpPr>
          <p:cNvPr id="4" name="TextBox 3">
            <a:extLst>
              <a:ext uri="{FF2B5EF4-FFF2-40B4-BE49-F238E27FC236}">
                <a16:creationId xmlns:a16="http://schemas.microsoft.com/office/drawing/2014/main" id="{C5FBB233-EEB3-E343-2DD6-E5D98F84CE2A}"/>
              </a:ext>
            </a:extLst>
          </p:cNvPr>
          <p:cNvSpPr txBox="1"/>
          <p:nvPr/>
        </p:nvSpPr>
        <p:spPr>
          <a:xfrm>
            <a:off x="6394508" y="6304137"/>
            <a:ext cx="6094602" cy="646331"/>
          </a:xfrm>
          <a:prstGeom prst="rect">
            <a:avLst/>
          </a:prstGeom>
          <a:noFill/>
        </p:spPr>
        <p:txBody>
          <a:bodyPr wrap="square">
            <a:spAutoFit/>
          </a:bodyPr>
          <a:lstStyle/>
          <a:p>
            <a:r>
              <a:rPr lang="en-US" dirty="0"/>
              <a:t>Andrea Antonuzzo 		October 26, 2026</a:t>
            </a:r>
          </a:p>
          <a:p>
            <a:endParaRPr lang="en-US" dirty="0"/>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dirty="0"/>
              <a:t>Agenda</a:t>
            </a:r>
          </a:p>
        </p:txBody>
      </p:sp>
      <p:graphicFrame>
        <p:nvGraphicFramePr>
          <p:cNvPr id="33" name="Text Placeholder 1">
            <a:extLst>
              <a:ext uri="{FF2B5EF4-FFF2-40B4-BE49-F238E27FC236}">
                <a16:creationId xmlns:a16="http://schemas.microsoft.com/office/drawing/2014/main" id="{11070D3C-DC2A-FD26-C6D1-8EAC080CA431}"/>
              </a:ext>
            </a:extLst>
          </p:cNvPr>
          <p:cNvGraphicFramePr/>
          <p:nvPr>
            <p:extLst>
              <p:ext uri="{D42A27DB-BD31-4B8C-83A1-F6EECF244321}">
                <p14:modId xmlns:p14="http://schemas.microsoft.com/office/powerpoint/2010/main" val="2041954083"/>
              </p:ext>
            </p:extLst>
          </p:nvPr>
        </p:nvGraphicFramePr>
        <p:xfrm>
          <a:off x="951345" y="2286000"/>
          <a:ext cx="9145155" cy="3164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79BD1-0441-0F6A-3068-1FDF6187D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1D018-8326-593A-3A47-C9F0FB0D1BAD}"/>
              </a:ext>
            </a:extLst>
          </p:cNvPr>
          <p:cNvSpPr>
            <a:spLocks noGrp="1"/>
          </p:cNvSpPr>
          <p:nvPr>
            <p:ph type="title"/>
          </p:nvPr>
        </p:nvSpPr>
        <p:spPr>
          <a:xfrm>
            <a:off x="893064" y="72518"/>
            <a:ext cx="8297380" cy="1326514"/>
          </a:xfrm>
        </p:spPr>
        <p:txBody>
          <a:bodyPr/>
          <a:lstStyle/>
          <a:p>
            <a:r>
              <a:rPr lang="en-US" dirty="0"/>
              <a:t>Introduction</a:t>
            </a:r>
          </a:p>
        </p:txBody>
      </p:sp>
      <p:sp>
        <p:nvSpPr>
          <p:cNvPr id="5" name="TextBox 4">
            <a:extLst>
              <a:ext uri="{FF2B5EF4-FFF2-40B4-BE49-F238E27FC236}">
                <a16:creationId xmlns:a16="http://schemas.microsoft.com/office/drawing/2014/main" id="{BBC89A00-9336-EA44-C4E0-08EE0F6A523C}"/>
              </a:ext>
            </a:extLst>
          </p:cNvPr>
          <p:cNvSpPr txBox="1"/>
          <p:nvPr/>
        </p:nvSpPr>
        <p:spPr>
          <a:xfrm>
            <a:off x="911352" y="2264434"/>
            <a:ext cx="5732729" cy="2308324"/>
          </a:xfrm>
          <a:prstGeom prst="rect">
            <a:avLst/>
          </a:prstGeom>
          <a:noFill/>
        </p:spPr>
        <p:txBody>
          <a:bodyPr wrap="square">
            <a:spAutoFit/>
          </a:bodyPr>
          <a:lstStyle/>
          <a:p>
            <a:pPr algn="just">
              <a:buNone/>
            </a:pPr>
            <a:r>
              <a:rPr lang="en-US" sz="1800" dirty="0"/>
              <a:t>This analysis explores sales performance and profitability using the Sample Superstore dataset, visualized in Tableau. The objective is to identify key trends over time, evaluate regional and city-level profit dynamics, and summarize core business KPIs. These insights support a clearer understanding of performance drivers and highlight areas for potential improvement.</a:t>
            </a:r>
          </a:p>
        </p:txBody>
      </p:sp>
    </p:spTree>
    <p:extLst>
      <p:ext uri="{BB962C8B-B14F-4D97-AF65-F5344CB8AC3E}">
        <p14:creationId xmlns:p14="http://schemas.microsoft.com/office/powerpoint/2010/main" val="3650507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91B45B2-AF99-E589-ABB3-A571ACD0C17A}"/>
              </a:ext>
            </a:extLst>
          </p:cNvPr>
          <p:cNvSpPr>
            <a:spLocks noGrp="1"/>
          </p:cNvSpPr>
          <p:nvPr>
            <p:ph type="title"/>
          </p:nvPr>
        </p:nvSpPr>
        <p:spPr>
          <a:xfrm>
            <a:off x="893064" y="72518"/>
            <a:ext cx="10405174" cy="1326514"/>
          </a:xfrm>
        </p:spPr>
        <p:txBody>
          <a:bodyPr/>
          <a:lstStyle/>
          <a:p>
            <a:r>
              <a:rPr lang="en-US" dirty="0"/>
              <a:t>Sales Performance Over Time</a:t>
            </a:r>
          </a:p>
        </p:txBody>
      </p:sp>
      <p:pic>
        <p:nvPicPr>
          <p:cNvPr id="10" name="Picture 9">
            <a:extLst>
              <a:ext uri="{FF2B5EF4-FFF2-40B4-BE49-F238E27FC236}">
                <a16:creationId xmlns:a16="http://schemas.microsoft.com/office/drawing/2014/main" id="{D0E3DE96-5F5C-4A61-4586-5E7F8671EBD6}"/>
              </a:ext>
            </a:extLst>
          </p:cNvPr>
          <p:cNvPicPr>
            <a:picLocks noChangeAspect="1"/>
          </p:cNvPicPr>
          <p:nvPr/>
        </p:nvPicPr>
        <p:blipFill>
          <a:blip r:embed="rId2"/>
          <a:srcRect t="4793"/>
          <a:stretch>
            <a:fillRect/>
          </a:stretch>
        </p:blipFill>
        <p:spPr>
          <a:xfrm>
            <a:off x="727555" y="1796528"/>
            <a:ext cx="5368445" cy="4050572"/>
          </a:xfrm>
          <a:prstGeom prst="rect">
            <a:avLst/>
          </a:prstGeom>
          <a:noFill/>
        </p:spPr>
      </p:pic>
      <p:sp>
        <p:nvSpPr>
          <p:cNvPr id="6" name="Rectangle 5">
            <a:extLst>
              <a:ext uri="{FF2B5EF4-FFF2-40B4-BE49-F238E27FC236}">
                <a16:creationId xmlns:a16="http://schemas.microsoft.com/office/drawing/2014/main" id="{0B99B714-B3DE-1CA0-AA14-557AB7FFAAC4}"/>
              </a:ext>
            </a:extLst>
          </p:cNvPr>
          <p:cNvSpPr/>
          <p:nvPr/>
        </p:nvSpPr>
        <p:spPr>
          <a:xfrm>
            <a:off x="6586754" y="2309768"/>
            <a:ext cx="4711483" cy="536897"/>
          </a:xfrm>
          <a:prstGeom prst="rect">
            <a:avLst/>
          </a:prstGeom>
          <a:solidFill>
            <a:srgbClr val="4E79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eaLnBrk="0" fontAlgn="base" hangingPunct="0">
              <a:spcBef>
                <a:spcPct val="0"/>
              </a:spcBef>
              <a:spcAft>
                <a:spcPct val="0"/>
              </a:spcAft>
            </a:pPr>
            <a:r>
              <a:rPr lang="en-US" altLang="en-US" sz="1600" dirty="0">
                <a:solidFill>
                  <a:schemeClr val="tx1"/>
                </a:solidFill>
                <a:latin typeface="Arial" panose="020B0604020202020204" pitchFamily="34" charset="0"/>
              </a:rPr>
              <a:t>Sales show a consistent upward trend from 2014 to 2017, indicating strong business growth</a:t>
            </a:r>
          </a:p>
        </p:txBody>
      </p:sp>
      <p:sp>
        <p:nvSpPr>
          <p:cNvPr id="7" name="Rectangle 6">
            <a:extLst>
              <a:ext uri="{FF2B5EF4-FFF2-40B4-BE49-F238E27FC236}">
                <a16:creationId xmlns:a16="http://schemas.microsoft.com/office/drawing/2014/main" id="{C3FD5B4F-505D-0FBE-FB5D-FC55D6D853D8}"/>
              </a:ext>
            </a:extLst>
          </p:cNvPr>
          <p:cNvSpPr/>
          <p:nvPr/>
        </p:nvSpPr>
        <p:spPr>
          <a:xfrm>
            <a:off x="6586754" y="3111447"/>
            <a:ext cx="4711483" cy="536897"/>
          </a:xfrm>
          <a:prstGeom prst="rect">
            <a:avLst/>
          </a:prstGeom>
          <a:solidFill>
            <a:srgbClr val="F28E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eaLnBrk="0" fontAlgn="base" hangingPunct="0">
              <a:spcBef>
                <a:spcPct val="0"/>
              </a:spcBef>
              <a:spcAft>
                <a:spcPct val="0"/>
              </a:spcAft>
            </a:pPr>
            <a:r>
              <a:rPr lang="en-US" altLang="en-US" sz="1600" dirty="0">
                <a:solidFill>
                  <a:schemeClr val="tx1"/>
                </a:solidFill>
                <a:latin typeface="Arial" panose="020B0604020202020204" pitchFamily="34" charset="0"/>
              </a:rPr>
              <a:t>Q4 is the strongest quarter every year, confirming pronounced seasonality effects</a:t>
            </a:r>
          </a:p>
        </p:txBody>
      </p:sp>
      <p:sp>
        <p:nvSpPr>
          <p:cNvPr id="8" name="Rectangle 7">
            <a:extLst>
              <a:ext uri="{FF2B5EF4-FFF2-40B4-BE49-F238E27FC236}">
                <a16:creationId xmlns:a16="http://schemas.microsoft.com/office/drawing/2014/main" id="{58D12FFA-2CED-C4F6-16AF-AB86FFF2A1C1}"/>
              </a:ext>
            </a:extLst>
          </p:cNvPr>
          <p:cNvSpPr/>
          <p:nvPr/>
        </p:nvSpPr>
        <p:spPr>
          <a:xfrm>
            <a:off x="6586753" y="3913126"/>
            <a:ext cx="4711483" cy="536897"/>
          </a:xfrm>
          <a:prstGeom prst="rect">
            <a:avLst/>
          </a:prstGeom>
          <a:solidFill>
            <a:srgbClr val="E157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sz="1600" dirty="0">
                <a:solidFill>
                  <a:schemeClr val="tx1"/>
                </a:solidFill>
                <a:latin typeface="Arial" panose="020B0604020202020204" pitchFamily="34" charset="0"/>
              </a:rPr>
              <a:t>2017 records the highest overall sales, highlighting accelerating revenue momentum</a:t>
            </a:r>
          </a:p>
        </p:txBody>
      </p:sp>
      <p:sp>
        <p:nvSpPr>
          <p:cNvPr id="9" name="Rectangle 8">
            <a:extLst>
              <a:ext uri="{FF2B5EF4-FFF2-40B4-BE49-F238E27FC236}">
                <a16:creationId xmlns:a16="http://schemas.microsoft.com/office/drawing/2014/main" id="{9F93A420-03E9-DEBB-8BF4-9567A0746DDF}"/>
              </a:ext>
            </a:extLst>
          </p:cNvPr>
          <p:cNvSpPr/>
          <p:nvPr/>
        </p:nvSpPr>
        <p:spPr>
          <a:xfrm>
            <a:off x="6586753" y="4714805"/>
            <a:ext cx="4711483" cy="536897"/>
          </a:xfrm>
          <a:prstGeom prst="rect">
            <a:avLst/>
          </a:prstGeom>
          <a:solidFill>
            <a:srgbClr val="76B7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600" dirty="0">
                <a:solidFill>
                  <a:schemeClr val="tx1"/>
                </a:solidFill>
                <a:latin typeface="Arial" panose="020B0604020202020204" pitchFamily="34" charset="0"/>
              </a:rPr>
              <a:t>Year-over-year growth accelerates after 2016, suggesting improved market traction</a:t>
            </a:r>
          </a:p>
        </p:txBody>
      </p:sp>
      <p:sp>
        <p:nvSpPr>
          <p:cNvPr id="14" name="Rectangle 13">
            <a:hlinkClick r:id="rId3"/>
            <a:extLst>
              <a:ext uri="{FF2B5EF4-FFF2-40B4-BE49-F238E27FC236}">
                <a16:creationId xmlns:a16="http://schemas.microsoft.com/office/drawing/2014/main" id="{62CF7AB5-AA5B-1BB0-2F7A-9902DE72AFB4}"/>
              </a:ext>
            </a:extLst>
          </p:cNvPr>
          <p:cNvSpPr/>
          <p:nvPr/>
        </p:nvSpPr>
        <p:spPr>
          <a:xfrm>
            <a:off x="0" y="6627303"/>
            <a:ext cx="12192000" cy="230697"/>
          </a:xfrm>
          <a:prstGeom prst="rect">
            <a:avLst/>
          </a:prstGeom>
        </p:spPr>
        <p:style>
          <a:lnRef idx="2">
            <a:schemeClr val="dk1">
              <a:shade val="15000"/>
            </a:schemeClr>
          </a:lnRef>
          <a:fillRef idx="1002">
            <a:schemeClr val="dk2"/>
          </a:fillRef>
          <a:effectRef idx="0">
            <a:schemeClr val="dk1"/>
          </a:effectRef>
          <a:fontRef idx="minor">
            <a:schemeClr val="lt1"/>
          </a:fontRef>
        </p:style>
        <p:txBody>
          <a:bodyPr rtlCol="0" anchor="ctr"/>
          <a:lstStyle/>
          <a:p>
            <a:pPr algn="ctr"/>
            <a:r>
              <a:rPr lang="en-US" dirty="0"/>
              <a:t>To find the real time graph on Tableau click on this link </a:t>
            </a:r>
          </a:p>
        </p:txBody>
      </p:sp>
    </p:spTree>
    <p:extLst>
      <p:ext uri="{BB962C8B-B14F-4D97-AF65-F5344CB8AC3E}">
        <p14:creationId xmlns:p14="http://schemas.microsoft.com/office/powerpoint/2010/main" val="3187801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en-US" dirty="0"/>
              <a:t>Sales Per Category</a:t>
            </a:r>
            <a:endParaRPr lang="en-ZA" dirty="0"/>
          </a:p>
        </p:txBody>
      </p:sp>
      <p:pic>
        <p:nvPicPr>
          <p:cNvPr id="5" name="Picture 4">
            <a:extLst>
              <a:ext uri="{FF2B5EF4-FFF2-40B4-BE49-F238E27FC236}">
                <a16:creationId xmlns:a16="http://schemas.microsoft.com/office/drawing/2014/main" id="{2D1D4493-4691-DB03-EA36-015957902834}"/>
              </a:ext>
            </a:extLst>
          </p:cNvPr>
          <p:cNvPicPr>
            <a:picLocks noChangeAspect="1"/>
          </p:cNvPicPr>
          <p:nvPr/>
        </p:nvPicPr>
        <p:blipFill>
          <a:blip r:embed="rId3"/>
          <a:stretch>
            <a:fillRect/>
          </a:stretch>
        </p:blipFill>
        <p:spPr>
          <a:xfrm>
            <a:off x="397266" y="1705102"/>
            <a:ext cx="6671036" cy="4541520"/>
          </a:xfrm>
          <a:prstGeom prst="rect">
            <a:avLst/>
          </a:prstGeom>
        </p:spPr>
      </p:pic>
      <p:sp>
        <p:nvSpPr>
          <p:cNvPr id="12" name="Rectangle 11">
            <a:extLst>
              <a:ext uri="{FF2B5EF4-FFF2-40B4-BE49-F238E27FC236}">
                <a16:creationId xmlns:a16="http://schemas.microsoft.com/office/drawing/2014/main" id="{27453D63-A73C-E31D-3B01-9354E3E510BF}"/>
              </a:ext>
            </a:extLst>
          </p:cNvPr>
          <p:cNvSpPr/>
          <p:nvPr/>
        </p:nvSpPr>
        <p:spPr>
          <a:xfrm>
            <a:off x="7283041" y="3366780"/>
            <a:ext cx="2793534" cy="536897"/>
          </a:xfrm>
          <a:prstGeom prst="rect">
            <a:avLst/>
          </a:prstGeom>
          <a:solidFill>
            <a:srgbClr val="93AEC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b="1" dirty="0">
                <a:solidFill>
                  <a:schemeClr val="tx1"/>
                </a:solidFill>
                <a:latin typeface="Arial" panose="020B0604020202020204" pitchFamily="34" charset="0"/>
              </a:rPr>
              <a:t>Blue area = </a:t>
            </a:r>
            <a:r>
              <a:rPr lang="en-US" sz="1600" dirty="0">
                <a:solidFill>
                  <a:schemeClr val="tx1"/>
                </a:solidFill>
              </a:rPr>
              <a:t> Sales from profitable Sales</a:t>
            </a:r>
          </a:p>
        </p:txBody>
      </p:sp>
      <p:sp>
        <p:nvSpPr>
          <p:cNvPr id="15" name="Rectangle 14">
            <a:extLst>
              <a:ext uri="{FF2B5EF4-FFF2-40B4-BE49-F238E27FC236}">
                <a16:creationId xmlns:a16="http://schemas.microsoft.com/office/drawing/2014/main" id="{26A90356-690A-70D1-95AD-24C94C6544A6}"/>
              </a:ext>
            </a:extLst>
          </p:cNvPr>
          <p:cNvSpPr/>
          <p:nvPr/>
        </p:nvSpPr>
        <p:spPr>
          <a:xfrm>
            <a:off x="7283041" y="4061671"/>
            <a:ext cx="2793534" cy="536897"/>
          </a:xfrm>
          <a:prstGeom prst="rect">
            <a:avLst/>
          </a:prstGeom>
          <a:solidFill>
            <a:srgbClr val="F7BA7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b="1" dirty="0">
                <a:solidFill>
                  <a:schemeClr val="tx1"/>
                </a:solidFill>
                <a:latin typeface="Arial" panose="020B0604020202020204" pitchFamily="34" charset="0"/>
              </a:rPr>
              <a:t>Orange area = </a:t>
            </a:r>
            <a:r>
              <a:rPr lang="en-US" sz="1600" dirty="0">
                <a:solidFill>
                  <a:schemeClr val="tx1"/>
                </a:solidFill>
              </a:rPr>
              <a:t> Sales from unprofitable Sales</a:t>
            </a:r>
          </a:p>
        </p:txBody>
      </p:sp>
      <p:sp>
        <p:nvSpPr>
          <p:cNvPr id="16" name="Rectangle 15">
            <a:hlinkClick r:id="rId4"/>
            <a:extLst>
              <a:ext uri="{FF2B5EF4-FFF2-40B4-BE49-F238E27FC236}">
                <a16:creationId xmlns:a16="http://schemas.microsoft.com/office/drawing/2014/main" id="{F0A334A2-9EB7-2DC9-50B0-C408BC832B70}"/>
              </a:ext>
            </a:extLst>
          </p:cNvPr>
          <p:cNvSpPr/>
          <p:nvPr/>
        </p:nvSpPr>
        <p:spPr>
          <a:xfrm>
            <a:off x="0" y="6627303"/>
            <a:ext cx="12192000" cy="230697"/>
          </a:xfrm>
          <a:prstGeom prst="rect">
            <a:avLst/>
          </a:prstGeom>
        </p:spPr>
        <p:style>
          <a:lnRef idx="2">
            <a:schemeClr val="dk1">
              <a:shade val="15000"/>
            </a:schemeClr>
          </a:lnRef>
          <a:fillRef idx="1002">
            <a:schemeClr val="dk2"/>
          </a:fillRef>
          <a:effectRef idx="0">
            <a:schemeClr val="dk1"/>
          </a:effectRef>
          <a:fontRef idx="minor">
            <a:schemeClr val="lt1"/>
          </a:fontRef>
        </p:style>
        <p:txBody>
          <a:bodyPr rtlCol="0" anchor="ctr"/>
          <a:lstStyle/>
          <a:p>
            <a:pPr algn="ctr"/>
            <a:r>
              <a:rPr lang="en-US" dirty="0"/>
              <a:t>To find the real time graph on Tableau click on this link </a:t>
            </a:r>
          </a:p>
        </p:txBody>
      </p:sp>
    </p:spTree>
    <p:extLst>
      <p:ext uri="{BB962C8B-B14F-4D97-AF65-F5344CB8AC3E}">
        <p14:creationId xmlns:p14="http://schemas.microsoft.com/office/powerpoint/2010/main" val="2099008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4228-0DC4-4119-B9C7-6C936C41E980}"/>
              </a:ext>
            </a:extLst>
          </p:cNvPr>
          <p:cNvSpPr>
            <a:spLocks noGrp="1"/>
          </p:cNvSpPr>
          <p:nvPr>
            <p:ph type="title"/>
          </p:nvPr>
        </p:nvSpPr>
        <p:spPr>
          <a:xfrm>
            <a:off x="893064" y="-519156"/>
            <a:ext cx="10405174" cy="1326514"/>
          </a:xfrm>
        </p:spPr>
        <p:txBody>
          <a:bodyPr anchor="b">
            <a:normAutofit/>
          </a:bodyPr>
          <a:lstStyle/>
          <a:p>
            <a:r>
              <a:rPr lang="en-US" dirty="0"/>
              <a:t>Effective delivery techniques</a:t>
            </a:r>
            <a:endParaRPr lang="en-ZA" dirty="0"/>
          </a:p>
        </p:txBody>
      </p:sp>
      <p:sp>
        <p:nvSpPr>
          <p:cNvPr id="11" name="Content Placeholder 2">
            <a:extLst>
              <a:ext uri="{FF2B5EF4-FFF2-40B4-BE49-F238E27FC236}">
                <a16:creationId xmlns:a16="http://schemas.microsoft.com/office/drawing/2014/main" id="{97C9C2F4-1E6C-F004-05ED-74738C735A08}"/>
              </a:ext>
            </a:extLst>
          </p:cNvPr>
          <p:cNvSpPr>
            <a:spLocks noGrp="1"/>
          </p:cNvSpPr>
          <p:nvPr>
            <p:ph sz="quarter" idx="13"/>
          </p:nvPr>
        </p:nvSpPr>
        <p:spPr>
          <a:xfrm>
            <a:off x="893064" y="1538344"/>
            <a:ext cx="3434956" cy="4786954"/>
          </a:xfrm>
        </p:spPr>
        <p:txBody>
          <a:bodyPr>
            <a:normAutofit lnSpcReduction="10000"/>
          </a:bodyPr>
          <a:lstStyle/>
          <a:p>
            <a:pPr marL="0" indent="0">
              <a:buNone/>
            </a:pPr>
            <a:r>
              <a:rPr lang="en-US" sz="2400" i="1" dirty="0"/>
              <a:t>Coastal and northern states generally outperform, while several central and southern regions show negative margins, revealing clear geographic profitability gaps and highlighting the need for targeted regional pricing and cost optimization strategies.</a:t>
            </a:r>
          </a:p>
          <a:p>
            <a:pPr marL="0" indent="0">
              <a:buNone/>
            </a:pPr>
            <a:endParaRPr lang="en-US" sz="700" dirty="0"/>
          </a:p>
        </p:txBody>
      </p:sp>
      <p:pic>
        <p:nvPicPr>
          <p:cNvPr id="6" name="Content Placeholder 5">
            <a:extLst>
              <a:ext uri="{FF2B5EF4-FFF2-40B4-BE49-F238E27FC236}">
                <a16:creationId xmlns:a16="http://schemas.microsoft.com/office/drawing/2014/main" id="{CA5AEAC2-E823-36AA-6D1B-8818575B7490}"/>
              </a:ext>
            </a:extLst>
          </p:cNvPr>
          <p:cNvPicPr>
            <a:picLocks noGrp="1" noChangeAspect="1"/>
          </p:cNvPicPr>
          <p:nvPr>
            <p:ph sz="quarter" idx="14"/>
          </p:nvPr>
        </p:nvPicPr>
        <p:blipFill>
          <a:blip r:embed="rId3"/>
          <a:stretch>
            <a:fillRect/>
          </a:stretch>
        </p:blipFill>
        <p:spPr>
          <a:xfrm>
            <a:off x="4466666" y="1538344"/>
            <a:ext cx="7373471" cy="4708277"/>
          </a:xfrm>
          <a:prstGeom prst="rect">
            <a:avLst/>
          </a:prstGeom>
          <a:no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a:hlinkClick r:id="rId4"/>
            <a:extLst>
              <a:ext uri="{FF2B5EF4-FFF2-40B4-BE49-F238E27FC236}">
                <a16:creationId xmlns:a16="http://schemas.microsoft.com/office/drawing/2014/main" id="{4397ACC7-DD80-65ED-EDB8-280062656437}"/>
              </a:ext>
            </a:extLst>
          </p:cNvPr>
          <p:cNvSpPr/>
          <p:nvPr/>
        </p:nvSpPr>
        <p:spPr>
          <a:xfrm>
            <a:off x="0" y="6501469"/>
            <a:ext cx="12192000" cy="356532"/>
          </a:xfrm>
          <a:prstGeom prst="rect">
            <a:avLst/>
          </a:prstGeom>
        </p:spPr>
        <p:style>
          <a:lnRef idx="2">
            <a:schemeClr val="dk1">
              <a:shade val="15000"/>
            </a:schemeClr>
          </a:lnRef>
          <a:fillRef idx="1002">
            <a:schemeClr val="dk2"/>
          </a:fillRef>
          <a:effectRef idx="0">
            <a:schemeClr val="dk1"/>
          </a:effectRef>
          <a:fontRef idx="minor">
            <a:schemeClr val="lt1"/>
          </a:fontRef>
        </p:style>
        <p:txBody>
          <a:bodyPr rtlCol="0" anchor="ctr"/>
          <a:lstStyle/>
          <a:p>
            <a:pPr algn="ctr"/>
            <a:r>
              <a:rPr lang="en-US" dirty="0"/>
              <a:t>To find the real time graph on Tableau click on this blue Tab</a:t>
            </a:r>
          </a:p>
        </p:txBody>
      </p:sp>
    </p:spTree>
    <p:extLst>
      <p:ext uri="{BB962C8B-B14F-4D97-AF65-F5344CB8AC3E}">
        <p14:creationId xmlns:p14="http://schemas.microsoft.com/office/powerpoint/2010/main" val="1041471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4EAD-605B-3F80-1817-5F59C9EFB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CFD23-F287-E730-CFE6-C2C71998D290}"/>
              </a:ext>
            </a:extLst>
          </p:cNvPr>
          <p:cNvSpPr>
            <a:spLocks noGrp="1"/>
          </p:cNvSpPr>
          <p:nvPr>
            <p:ph type="title"/>
          </p:nvPr>
        </p:nvSpPr>
        <p:spPr>
          <a:xfrm>
            <a:off x="893064" y="72518"/>
            <a:ext cx="8297380" cy="1326514"/>
          </a:xfrm>
        </p:spPr>
        <p:txBody>
          <a:bodyPr/>
          <a:lstStyle/>
          <a:p>
            <a:r>
              <a:rPr lang="en-US" dirty="0"/>
              <a:t>Sales Per Category</a:t>
            </a:r>
            <a:endParaRPr lang="en-ZA" dirty="0"/>
          </a:p>
        </p:txBody>
      </p:sp>
      <p:sp>
        <p:nvSpPr>
          <p:cNvPr id="6" name="TextBox 5">
            <a:extLst>
              <a:ext uri="{FF2B5EF4-FFF2-40B4-BE49-F238E27FC236}">
                <a16:creationId xmlns:a16="http://schemas.microsoft.com/office/drawing/2014/main" id="{67342E96-4194-B78E-F884-F1C841D11506}"/>
              </a:ext>
            </a:extLst>
          </p:cNvPr>
          <p:cNvSpPr txBox="1"/>
          <p:nvPr/>
        </p:nvSpPr>
        <p:spPr>
          <a:xfrm>
            <a:off x="489875" y="1394327"/>
            <a:ext cx="11212250" cy="830997"/>
          </a:xfrm>
          <a:prstGeom prst="rect">
            <a:avLst/>
          </a:prstGeom>
          <a:noFill/>
        </p:spPr>
        <p:txBody>
          <a:bodyPr wrap="square">
            <a:spAutoFit/>
          </a:bodyPr>
          <a:lstStyle/>
          <a:p>
            <a:r>
              <a:rPr lang="en-US" sz="2400" dirty="0"/>
              <a:t>All KPIs and metrics shown were computed directly in Tableau using calculated fields and aggregations on the Sample Superstore dataset</a:t>
            </a:r>
          </a:p>
        </p:txBody>
      </p:sp>
      <p:graphicFrame>
        <p:nvGraphicFramePr>
          <p:cNvPr id="7" name="Table 6">
            <a:extLst>
              <a:ext uri="{FF2B5EF4-FFF2-40B4-BE49-F238E27FC236}">
                <a16:creationId xmlns:a16="http://schemas.microsoft.com/office/drawing/2014/main" id="{4DAFAFA2-F869-974E-ADC8-F643940969ED}"/>
              </a:ext>
            </a:extLst>
          </p:cNvPr>
          <p:cNvGraphicFramePr>
            <a:graphicFrameLocks noGrp="1"/>
          </p:cNvGraphicFramePr>
          <p:nvPr>
            <p:extLst>
              <p:ext uri="{D42A27DB-BD31-4B8C-83A1-F6EECF244321}">
                <p14:modId xmlns:p14="http://schemas.microsoft.com/office/powerpoint/2010/main" val="632634963"/>
              </p:ext>
            </p:extLst>
          </p:nvPr>
        </p:nvGraphicFramePr>
        <p:xfrm>
          <a:off x="893064" y="2867793"/>
          <a:ext cx="8128000" cy="2595880"/>
        </p:xfrm>
        <a:graphic>
          <a:graphicData uri="http://schemas.openxmlformats.org/drawingml/2006/table">
            <a:tbl>
              <a:tblPr firstRow="1" bandRow="1">
                <a:tableStyleId>{D27102A9-8310-4765-A935-A1911B00CA55}</a:tableStyleId>
              </a:tblPr>
              <a:tblGrid>
                <a:gridCol w="4064000">
                  <a:extLst>
                    <a:ext uri="{9D8B030D-6E8A-4147-A177-3AD203B41FA5}">
                      <a16:colId xmlns:a16="http://schemas.microsoft.com/office/drawing/2014/main" val="1232800332"/>
                    </a:ext>
                  </a:extLst>
                </a:gridCol>
                <a:gridCol w="4064000">
                  <a:extLst>
                    <a:ext uri="{9D8B030D-6E8A-4147-A177-3AD203B41FA5}">
                      <a16:colId xmlns:a16="http://schemas.microsoft.com/office/drawing/2014/main" val="2024176048"/>
                    </a:ext>
                  </a:extLst>
                </a:gridCol>
              </a:tblGrid>
              <a:tr h="370840">
                <a:tc>
                  <a:txBody>
                    <a:bodyPr/>
                    <a:lstStyle/>
                    <a:p>
                      <a:pPr algn="ctr"/>
                      <a:r>
                        <a:rPr lang="en-US" dirty="0"/>
                        <a:t>Sales</a:t>
                      </a:r>
                    </a:p>
                  </a:txBody>
                  <a:tcPr/>
                </a:tc>
                <a:tc>
                  <a:txBody>
                    <a:bodyPr/>
                    <a:lstStyle/>
                    <a:p>
                      <a:pPr algn="ctr"/>
                      <a:r>
                        <a:rPr lang="en-US" dirty="0"/>
                        <a:t>$2,297,200.86</a:t>
                      </a:r>
                    </a:p>
                  </a:txBody>
                  <a:tcPr/>
                </a:tc>
                <a:extLst>
                  <a:ext uri="{0D108BD9-81ED-4DB2-BD59-A6C34878D82A}">
                    <a16:rowId xmlns:a16="http://schemas.microsoft.com/office/drawing/2014/main" val="3966616976"/>
                  </a:ext>
                </a:extLst>
              </a:tr>
              <a:tr h="370840">
                <a:tc>
                  <a:txBody>
                    <a:bodyPr/>
                    <a:lstStyle/>
                    <a:p>
                      <a:pPr algn="ctr"/>
                      <a:r>
                        <a:rPr lang="en-US" dirty="0"/>
                        <a:t>Profit</a:t>
                      </a:r>
                    </a:p>
                  </a:txBody>
                  <a:tcPr/>
                </a:tc>
                <a:tc>
                  <a:txBody>
                    <a:bodyPr/>
                    <a:lstStyle/>
                    <a:p>
                      <a:pPr algn="ctr"/>
                      <a:r>
                        <a:rPr lang="en-US" dirty="0"/>
                        <a:t>$286,397.02</a:t>
                      </a:r>
                    </a:p>
                  </a:txBody>
                  <a:tcPr/>
                </a:tc>
                <a:extLst>
                  <a:ext uri="{0D108BD9-81ED-4DB2-BD59-A6C34878D82A}">
                    <a16:rowId xmlns:a16="http://schemas.microsoft.com/office/drawing/2014/main" val="1405013425"/>
                  </a:ext>
                </a:extLst>
              </a:tr>
              <a:tr h="370840">
                <a:tc>
                  <a:txBody>
                    <a:bodyPr/>
                    <a:lstStyle/>
                    <a:p>
                      <a:pPr algn="ctr"/>
                      <a:r>
                        <a:rPr lang="en-US" dirty="0"/>
                        <a:t>Profit Ratio</a:t>
                      </a:r>
                    </a:p>
                  </a:txBody>
                  <a:tcPr/>
                </a:tc>
                <a:tc>
                  <a:txBody>
                    <a:bodyPr/>
                    <a:lstStyle/>
                    <a:p>
                      <a:pPr algn="ctr"/>
                      <a:r>
                        <a:rPr lang="en-US" dirty="0"/>
                        <a:t>12.47%</a:t>
                      </a:r>
                    </a:p>
                  </a:txBody>
                  <a:tcPr/>
                </a:tc>
                <a:extLst>
                  <a:ext uri="{0D108BD9-81ED-4DB2-BD59-A6C34878D82A}">
                    <a16:rowId xmlns:a16="http://schemas.microsoft.com/office/drawing/2014/main" val="637213639"/>
                  </a:ext>
                </a:extLst>
              </a:tr>
              <a:tr h="370840">
                <a:tc>
                  <a:txBody>
                    <a:bodyPr/>
                    <a:lstStyle/>
                    <a:p>
                      <a:pPr algn="ctr"/>
                      <a:r>
                        <a:rPr lang="en-US" dirty="0"/>
                        <a:t>Profit per Order</a:t>
                      </a:r>
                    </a:p>
                  </a:txBody>
                  <a:tcPr/>
                </a:tc>
                <a:tc>
                  <a:txBody>
                    <a:bodyPr/>
                    <a:lstStyle/>
                    <a:p>
                      <a:pPr algn="ctr"/>
                      <a:r>
                        <a:rPr lang="en-US" dirty="0"/>
                        <a:t>$57.18</a:t>
                      </a:r>
                    </a:p>
                  </a:txBody>
                  <a:tcPr/>
                </a:tc>
                <a:extLst>
                  <a:ext uri="{0D108BD9-81ED-4DB2-BD59-A6C34878D82A}">
                    <a16:rowId xmlns:a16="http://schemas.microsoft.com/office/drawing/2014/main" val="1389013896"/>
                  </a:ext>
                </a:extLst>
              </a:tr>
              <a:tr h="370840">
                <a:tc>
                  <a:txBody>
                    <a:bodyPr/>
                    <a:lstStyle/>
                    <a:p>
                      <a:pPr algn="ctr"/>
                      <a:r>
                        <a:rPr lang="en-US" dirty="0"/>
                        <a:t>Sales per Costumer</a:t>
                      </a:r>
                    </a:p>
                  </a:txBody>
                  <a:tcPr/>
                </a:tc>
                <a:tc>
                  <a:txBody>
                    <a:bodyPr/>
                    <a:lstStyle/>
                    <a:p>
                      <a:pPr algn="ctr"/>
                      <a:r>
                        <a:rPr lang="en-US" dirty="0"/>
                        <a:t>$2,896.85</a:t>
                      </a:r>
                    </a:p>
                  </a:txBody>
                  <a:tcPr/>
                </a:tc>
                <a:extLst>
                  <a:ext uri="{0D108BD9-81ED-4DB2-BD59-A6C34878D82A}">
                    <a16:rowId xmlns:a16="http://schemas.microsoft.com/office/drawing/2014/main" val="1137680454"/>
                  </a:ext>
                </a:extLst>
              </a:tr>
              <a:tr h="370840">
                <a:tc>
                  <a:txBody>
                    <a:bodyPr/>
                    <a:lstStyle/>
                    <a:p>
                      <a:pPr algn="ctr"/>
                      <a:r>
                        <a:rPr lang="en-US" dirty="0"/>
                        <a:t>Discount</a:t>
                      </a:r>
                    </a:p>
                  </a:txBody>
                  <a:tcPr/>
                </a:tc>
                <a:tc>
                  <a:txBody>
                    <a:bodyPr/>
                    <a:lstStyle/>
                    <a:p>
                      <a:pPr algn="ctr"/>
                      <a:r>
                        <a:rPr lang="en-US" dirty="0"/>
                        <a:t>$1,561.09</a:t>
                      </a:r>
                    </a:p>
                  </a:txBody>
                  <a:tcPr/>
                </a:tc>
                <a:extLst>
                  <a:ext uri="{0D108BD9-81ED-4DB2-BD59-A6C34878D82A}">
                    <a16:rowId xmlns:a16="http://schemas.microsoft.com/office/drawing/2014/main" val="2867915614"/>
                  </a:ext>
                </a:extLst>
              </a:tr>
              <a:tr h="370840">
                <a:tc>
                  <a:txBody>
                    <a:bodyPr/>
                    <a:lstStyle/>
                    <a:p>
                      <a:pPr algn="ctr"/>
                      <a:r>
                        <a:rPr lang="en-US" dirty="0"/>
                        <a:t>Quantity</a:t>
                      </a:r>
                    </a:p>
                  </a:txBody>
                  <a:tcPr/>
                </a:tc>
                <a:tc>
                  <a:txBody>
                    <a:bodyPr/>
                    <a:lstStyle/>
                    <a:p>
                      <a:pPr algn="ctr"/>
                      <a:r>
                        <a:rPr lang="en-US" dirty="0"/>
                        <a:t>37,873</a:t>
                      </a:r>
                    </a:p>
                  </a:txBody>
                  <a:tcPr/>
                </a:tc>
                <a:extLst>
                  <a:ext uri="{0D108BD9-81ED-4DB2-BD59-A6C34878D82A}">
                    <a16:rowId xmlns:a16="http://schemas.microsoft.com/office/drawing/2014/main" val="3161197802"/>
                  </a:ext>
                </a:extLst>
              </a:tr>
            </a:tbl>
          </a:graphicData>
        </a:graphic>
      </p:graphicFrame>
      <p:sp>
        <p:nvSpPr>
          <p:cNvPr id="8" name="Rectangle 7">
            <a:hlinkClick r:id="rId2"/>
            <a:extLst>
              <a:ext uri="{FF2B5EF4-FFF2-40B4-BE49-F238E27FC236}">
                <a16:creationId xmlns:a16="http://schemas.microsoft.com/office/drawing/2014/main" id="{4E9294E6-F497-F39B-EBB2-AC620754CAD8}"/>
              </a:ext>
            </a:extLst>
          </p:cNvPr>
          <p:cNvSpPr/>
          <p:nvPr/>
        </p:nvSpPr>
        <p:spPr>
          <a:xfrm>
            <a:off x="0" y="6535025"/>
            <a:ext cx="12192000" cy="322976"/>
          </a:xfrm>
          <a:prstGeom prst="rect">
            <a:avLst/>
          </a:prstGeom>
        </p:spPr>
        <p:style>
          <a:lnRef idx="2">
            <a:schemeClr val="dk1">
              <a:shade val="15000"/>
            </a:schemeClr>
          </a:lnRef>
          <a:fillRef idx="1002">
            <a:schemeClr val="dk2"/>
          </a:fillRef>
          <a:effectRef idx="0">
            <a:schemeClr val="dk1"/>
          </a:effectRef>
          <a:fontRef idx="minor">
            <a:schemeClr val="lt1"/>
          </a:fontRef>
        </p:style>
        <p:txBody>
          <a:bodyPr rtlCol="0" anchor="ctr"/>
          <a:lstStyle/>
          <a:p>
            <a:pPr algn="ctr"/>
            <a:r>
              <a:rPr lang="en-US" dirty="0"/>
              <a:t>To find the real time graph on Tableau click on this blue link </a:t>
            </a:r>
          </a:p>
        </p:txBody>
      </p:sp>
    </p:spTree>
    <p:extLst>
      <p:ext uri="{BB962C8B-B14F-4D97-AF65-F5344CB8AC3E}">
        <p14:creationId xmlns:p14="http://schemas.microsoft.com/office/powerpoint/2010/main" val="779279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CA8C54-30A3-3553-626E-52909A83C86B}"/>
              </a:ext>
            </a:extLst>
          </p:cNvPr>
          <p:cNvSpPr>
            <a:spLocks noGrp="1"/>
          </p:cNvSpPr>
          <p:nvPr>
            <p:ph type="title"/>
          </p:nvPr>
        </p:nvSpPr>
        <p:spPr>
          <a:xfrm>
            <a:off x="893064" y="72518"/>
            <a:ext cx="10405174" cy="1326514"/>
          </a:xfrm>
        </p:spPr>
        <p:txBody>
          <a:bodyPr anchor="b">
            <a:normAutofit/>
          </a:bodyPr>
          <a:lstStyle/>
          <a:p>
            <a:r>
              <a:rPr lang="en-US" dirty="0"/>
              <a:t>Lowest-performing cities</a:t>
            </a:r>
            <a:endParaRPr lang="en-ZA" dirty="0"/>
          </a:p>
        </p:txBody>
      </p:sp>
      <p:pic>
        <p:nvPicPr>
          <p:cNvPr id="15" name="Picture 14">
            <a:extLst>
              <a:ext uri="{FF2B5EF4-FFF2-40B4-BE49-F238E27FC236}">
                <a16:creationId xmlns:a16="http://schemas.microsoft.com/office/drawing/2014/main" id="{0E3BFDA8-D78D-DFA3-D166-D55571C404D8}"/>
              </a:ext>
            </a:extLst>
          </p:cNvPr>
          <p:cNvPicPr>
            <a:picLocks noChangeAspect="1"/>
          </p:cNvPicPr>
          <p:nvPr/>
        </p:nvPicPr>
        <p:blipFill>
          <a:blip r:embed="rId2"/>
          <a:stretch>
            <a:fillRect/>
          </a:stretch>
        </p:blipFill>
        <p:spPr>
          <a:xfrm>
            <a:off x="435828" y="1637716"/>
            <a:ext cx="7546898" cy="4402357"/>
          </a:xfrm>
          <a:prstGeom prst="rect">
            <a:avLst/>
          </a:prstGeom>
        </p:spPr>
      </p:pic>
      <p:sp>
        <p:nvSpPr>
          <p:cNvPr id="19" name="TextBox 18">
            <a:extLst>
              <a:ext uri="{FF2B5EF4-FFF2-40B4-BE49-F238E27FC236}">
                <a16:creationId xmlns:a16="http://schemas.microsoft.com/office/drawing/2014/main" id="{403B8A90-E9FB-4E05-BBD3-0A5425A1BE9E}"/>
              </a:ext>
            </a:extLst>
          </p:cNvPr>
          <p:cNvSpPr txBox="1"/>
          <p:nvPr/>
        </p:nvSpPr>
        <p:spPr>
          <a:xfrm>
            <a:off x="8573549" y="2189527"/>
            <a:ext cx="2835479" cy="738664"/>
          </a:xfrm>
          <a:prstGeom prst="rect">
            <a:avLst/>
          </a:prstGeom>
          <a:solidFill>
            <a:srgbClr val="F9A655"/>
          </a:solidFill>
        </p:spPr>
        <p:txBody>
          <a:bodyPr wrap="square" rtlCol="0">
            <a:spAutoFit/>
          </a:bodyPr>
          <a:lstStyle/>
          <a:p>
            <a:r>
              <a:rPr lang="en-US" sz="1400" dirty="0"/>
              <a:t>Several cities exhibit extremely negative profit ratios, indicating severe localized losses</a:t>
            </a:r>
          </a:p>
        </p:txBody>
      </p:sp>
      <p:sp>
        <p:nvSpPr>
          <p:cNvPr id="20" name="TextBox 19">
            <a:extLst>
              <a:ext uri="{FF2B5EF4-FFF2-40B4-BE49-F238E27FC236}">
                <a16:creationId xmlns:a16="http://schemas.microsoft.com/office/drawing/2014/main" id="{DA8C7F47-0ADB-7B54-682A-81FF9AFED847}"/>
              </a:ext>
            </a:extLst>
          </p:cNvPr>
          <p:cNvSpPr txBox="1"/>
          <p:nvPr/>
        </p:nvSpPr>
        <p:spPr>
          <a:xfrm>
            <a:off x="8573548" y="3241081"/>
            <a:ext cx="2835479" cy="738664"/>
          </a:xfrm>
          <a:prstGeom prst="rect">
            <a:avLst/>
          </a:prstGeom>
          <a:solidFill>
            <a:srgbClr val="F9A655"/>
          </a:solidFill>
        </p:spPr>
        <p:txBody>
          <a:bodyPr wrap="square" rtlCol="0">
            <a:spAutoFit/>
          </a:bodyPr>
          <a:lstStyle/>
          <a:p>
            <a:r>
              <a:rPr lang="en-US" altLang="en-US" sz="1400" dirty="0"/>
              <a:t>Abilene shows the lowest profitability, representing the most critical performance outlier</a:t>
            </a:r>
          </a:p>
        </p:txBody>
      </p:sp>
      <p:sp>
        <p:nvSpPr>
          <p:cNvPr id="21" name="TextBox 20">
            <a:extLst>
              <a:ext uri="{FF2B5EF4-FFF2-40B4-BE49-F238E27FC236}">
                <a16:creationId xmlns:a16="http://schemas.microsoft.com/office/drawing/2014/main" id="{FCC9FF20-62E0-67E8-A69B-88CC0ED3E0B7}"/>
              </a:ext>
            </a:extLst>
          </p:cNvPr>
          <p:cNvSpPr txBox="1"/>
          <p:nvPr/>
        </p:nvSpPr>
        <p:spPr>
          <a:xfrm>
            <a:off x="8573548" y="4292635"/>
            <a:ext cx="2835479" cy="738664"/>
          </a:xfrm>
          <a:prstGeom prst="rect">
            <a:avLst/>
          </a:prstGeom>
          <a:solidFill>
            <a:srgbClr val="F9A655"/>
          </a:solidFill>
        </p:spPr>
        <p:txBody>
          <a:bodyPr wrap="square" rtlCol="0">
            <a:spAutoFit/>
          </a:bodyPr>
          <a:lstStyle/>
          <a:p>
            <a:r>
              <a:rPr lang="en-US" sz="1400" dirty="0"/>
              <a:t>Targeted pricing, cost control, and product strategy are required to improve profitability</a:t>
            </a:r>
          </a:p>
        </p:txBody>
      </p:sp>
      <p:sp>
        <p:nvSpPr>
          <p:cNvPr id="24" name="Rectangle 23">
            <a:hlinkClick r:id="rId3"/>
            <a:extLst>
              <a:ext uri="{FF2B5EF4-FFF2-40B4-BE49-F238E27FC236}">
                <a16:creationId xmlns:a16="http://schemas.microsoft.com/office/drawing/2014/main" id="{AFDD670F-F4C0-135D-2BC7-5713864DBC99}"/>
              </a:ext>
            </a:extLst>
          </p:cNvPr>
          <p:cNvSpPr/>
          <p:nvPr/>
        </p:nvSpPr>
        <p:spPr>
          <a:xfrm>
            <a:off x="0" y="6535025"/>
            <a:ext cx="12192000" cy="322976"/>
          </a:xfrm>
          <a:prstGeom prst="rect">
            <a:avLst/>
          </a:prstGeom>
        </p:spPr>
        <p:style>
          <a:lnRef idx="2">
            <a:schemeClr val="dk1">
              <a:shade val="15000"/>
            </a:schemeClr>
          </a:lnRef>
          <a:fillRef idx="1002">
            <a:schemeClr val="dk2"/>
          </a:fillRef>
          <a:effectRef idx="0">
            <a:schemeClr val="dk1"/>
          </a:effectRef>
          <a:fontRef idx="minor">
            <a:schemeClr val="lt1"/>
          </a:fontRef>
        </p:style>
        <p:txBody>
          <a:bodyPr rtlCol="0" anchor="ctr"/>
          <a:lstStyle/>
          <a:p>
            <a:pPr algn="ctr"/>
            <a:r>
              <a:rPr lang="en-US" dirty="0"/>
              <a:t>To find the real time graph on Tableau click on this blue link </a:t>
            </a:r>
          </a:p>
        </p:txBody>
      </p:sp>
    </p:spTree>
    <p:extLst>
      <p:ext uri="{BB962C8B-B14F-4D97-AF65-F5344CB8AC3E}">
        <p14:creationId xmlns:p14="http://schemas.microsoft.com/office/powerpoint/2010/main" val="81220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B889-E63D-26CE-CB8F-80DF6FAE8BE0}"/>
              </a:ext>
            </a:extLst>
          </p:cNvPr>
          <p:cNvSpPr>
            <a:spLocks noGrp="1"/>
          </p:cNvSpPr>
          <p:nvPr>
            <p:ph type="title"/>
          </p:nvPr>
        </p:nvSpPr>
        <p:spPr>
          <a:xfrm>
            <a:off x="893064" y="72518"/>
            <a:ext cx="8297380" cy="1326514"/>
          </a:xfrm>
        </p:spPr>
        <p:txBody>
          <a:bodyPr anchor="b">
            <a:normAutofit/>
          </a:bodyPr>
          <a:lstStyle/>
          <a:p>
            <a:r>
              <a:rPr lang="en-US" dirty="0"/>
              <a:t>Main Takeaways</a:t>
            </a:r>
          </a:p>
        </p:txBody>
      </p:sp>
      <p:sp>
        <p:nvSpPr>
          <p:cNvPr id="18" name="Content Placeholder 2">
            <a:extLst>
              <a:ext uri="{FF2B5EF4-FFF2-40B4-BE49-F238E27FC236}">
                <a16:creationId xmlns:a16="http://schemas.microsoft.com/office/drawing/2014/main" id="{6B9CBFA5-3686-D10F-CEA2-AF566F276B75}"/>
              </a:ext>
            </a:extLst>
          </p:cNvPr>
          <p:cNvSpPr>
            <a:spLocks noGrp="1"/>
          </p:cNvSpPr>
          <p:nvPr>
            <p:ph type="body" sz="quarter" idx="13"/>
          </p:nvPr>
        </p:nvSpPr>
        <p:spPr>
          <a:xfrm>
            <a:off x="865631" y="2072640"/>
            <a:ext cx="8324089" cy="3493008"/>
          </a:xfrm>
        </p:spPr>
        <p:txBody>
          <a:bodyPr>
            <a:normAutofit/>
          </a:bodyPr>
          <a:lstStyle/>
          <a:p>
            <a:r>
              <a:rPr lang="en-US"/>
              <a:t>Sales show strong upward momentum from 2014 to 2017, with consistent Q4 seasonality driving peak performance</a:t>
            </a:r>
          </a:p>
          <a:p>
            <a:r>
              <a:rPr lang="en-US"/>
              <a:t>Technology is the primary growth driver, while Furniture underperforms and requires margin optimization</a:t>
            </a:r>
          </a:p>
          <a:p>
            <a:r>
              <a:rPr lang="en-US"/>
              <a:t>Profitability varies significantly by geography, with coastal and northern states outperforming central and southern regions</a:t>
            </a:r>
          </a:p>
          <a:p>
            <a:r>
              <a:rPr lang="en-US"/>
              <a:t>City-level analysis reveals concentrated losses in a small number of locations, highlighting targeted improvement opportunities</a:t>
            </a:r>
          </a:p>
          <a:p>
            <a:endParaRPr lang="en-US"/>
          </a:p>
          <a:p>
            <a:endParaRPr lang="en-US"/>
          </a:p>
        </p:txBody>
      </p:sp>
    </p:spTree>
    <p:extLst>
      <p:ext uri="{BB962C8B-B14F-4D97-AF65-F5344CB8AC3E}">
        <p14:creationId xmlns:p14="http://schemas.microsoft.com/office/powerpoint/2010/main" val="303180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5775656" cy="3284932"/>
          </a:xfrm>
        </p:spPr>
        <p:txBody>
          <a:bodyPr/>
          <a:lstStyle/>
          <a:p>
            <a:r>
              <a:rPr lang="en-US" dirty="0"/>
              <a:t>Thank you </a:t>
            </a:r>
          </a:p>
        </p:txBody>
      </p:sp>
      <p:sp>
        <p:nvSpPr>
          <p:cNvPr id="3" name="Text Placeholder 2">
            <a:extLst>
              <a:ext uri="{FF2B5EF4-FFF2-40B4-BE49-F238E27FC236}">
                <a16:creationId xmlns:a16="http://schemas.microsoft.com/office/drawing/2014/main" id="{1EC6DB3D-3AE2-9478-3245-FE2F98B96EC7}"/>
              </a:ext>
            </a:extLst>
          </p:cNvPr>
          <p:cNvSpPr>
            <a:spLocks noGrp="1"/>
          </p:cNvSpPr>
          <p:nvPr>
            <p:ph type="body" sz="quarter" idx="13"/>
          </p:nvPr>
        </p:nvSpPr>
        <p:spPr>
          <a:xfrm>
            <a:off x="911353" y="4006024"/>
            <a:ext cx="5794248" cy="1614600"/>
          </a:xfrm>
        </p:spPr>
        <p:txBody>
          <a:bodyPr/>
          <a:lstStyle/>
          <a:p>
            <a:r>
              <a:rPr lang="en-US" dirty="0"/>
              <a:t>Andrea Antonuzzo</a:t>
            </a:r>
          </a:p>
          <a:p>
            <a:r>
              <a:rPr lang="en-US" dirty="0"/>
              <a:t>+(1) 201-241-6048</a:t>
            </a:r>
          </a:p>
          <a:p>
            <a:r>
              <a:rPr lang="en-US" dirty="0"/>
              <a:t>aantonuz@stevens.edu</a:t>
            </a:r>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{05AEC0F0-0410-4A75-B13D-1A5CB3B2AC0C}TFb05bf529-a1dc-42d5-b9d6-8a1e9569dd9caf6e7d0f_win32-c3c9796a48f5</Template>
  <TotalTime>130</TotalTime>
  <Words>447</Words>
  <Application>Microsoft Office PowerPoint</Application>
  <PresentationFormat>Widescreen</PresentationFormat>
  <Paragraphs>56</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 Light</vt:lpstr>
      <vt:lpstr>Calibri</vt:lpstr>
      <vt:lpstr>Posterama</vt:lpstr>
      <vt:lpstr>Custom</vt:lpstr>
      <vt:lpstr>Sales &amp; Profitability  Performance Review  (Tableau Analysis)</vt:lpstr>
      <vt:lpstr>Agenda</vt:lpstr>
      <vt:lpstr>Introduction</vt:lpstr>
      <vt:lpstr>Sales Performance Over Time</vt:lpstr>
      <vt:lpstr>Sales Per Category</vt:lpstr>
      <vt:lpstr>Effective delivery techniques</vt:lpstr>
      <vt:lpstr>Sales Per Category</vt:lpstr>
      <vt:lpstr>Lowest-performing cities</vt:lpstr>
      <vt:lpstr>Main Takeaways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Antonuzzo</dc:creator>
  <cp:lastModifiedBy>Andrea Antonuzzo</cp:lastModifiedBy>
  <cp:revision>3</cp:revision>
  <dcterms:created xsi:type="dcterms:W3CDTF">2026-01-26T19:48:29Z</dcterms:created>
  <dcterms:modified xsi:type="dcterms:W3CDTF">2026-01-26T21:58:57Z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